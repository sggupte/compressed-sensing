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8" r:id="rId1"/>
  </p:sldMasterIdLst>
  <p:notesMasterIdLst>
    <p:notesMasterId r:id="rId31"/>
  </p:notesMasterIdLst>
  <p:sldIdLst>
    <p:sldId id="256" r:id="rId2"/>
    <p:sldId id="258" r:id="rId3"/>
    <p:sldId id="257" r:id="rId4"/>
    <p:sldId id="259" r:id="rId5"/>
    <p:sldId id="260" r:id="rId6"/>
    <p:sldId id="262" r:id="rId7"/>
    <p:sldId id="273" r:id="rId8"/>
    <p:sldId id="279" r:id="rId9"/>
    <p:sldId id="280" r:id="rId10"/>
    <p:sldId id="281" r:id="rId11"/>
    <p:sldId id="282" r:id="rId12"/>
    <p:sldId id="283" r:id="rId13"/>
    <p:sldId id="284" r:id="rId14"/>
    <p:sldId id="263" r:id="rId15"/>
    <p:sldId id="265" r:id="rId16"/>
    <p:sldId id="267" r:id="rId17"/>
    <p:sldId id="268" r:id="rId18"/>
    <p:sldId id="269" r:id="rId19"/>
    <p:sldId id="277" r:id="rId20"/>
    <p:sldId id="272" r:id="rId21"/>
    <p:sldId id="285" r:id="rId22"/>
    <p:sldId id="264" r:id="rId23"/>
    <p:sldId id="278" r:id="rId24"/>
    <p:sldId id="286" r:id="rId25"/>
    <p:sldId id="287" r:id="rId26"/>
    <p:sldId id="288" r:id="rId27"/>
    <p:sldId id="274" r:id="rId28"/>
    <p:sldId id="276" r:id="rId29"/>
    <p:sldId id="27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54"/>
    <p:restoredTop sz="94650"/>
  </p:normalViewPr>
  <p:slideViewPr>
    <p:cSldViewPr snapToGrid="0" snapToObjects="1">
      <p:cViewPr varScale="1">
        <p:scale>
          <a:sx n="120" d="100"/>
          <a:sy n="120" d="100"/>
        </p:scale>
        <p:origin x="6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CD32D0-289C-554A-9455-4D3AE1B5A78B}" type="datetimeFigureOut">
              <a:rPr lang="en-US" smtClean="0"/>
              <a:t>3/2/22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DCC590-E04D-3840-A3D1-3AB01E105D16}" type="slidenum">
              <a:rPr lang="en-US" smtClean="0"/>
              <a:t>‹#›</a:t>
            </a:fld>
            <a:endParaRPr lang="en-US"/>
          </a:p>
        </p:txBody>
      </p:sp>
    </p:spTree>
    <p:extLst>
      <p:ext uri="{BB962C8B-B14F-4D97-AF65-F5344CB8AC3E}">
        <p14:creationId xmlns:p14="http://schemas.microsoft.com/office/powerpoint/2010/main" val="309891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DCC590-E04D-3840-A3D1-3AB01E105D16}" type="slidenum">
              <a:rPr lang="en-US" smtClean="0"/>
              <a:t>13</a:t>
            </a:fld>
            <a:endParaRPr lang="en-US"/>
          </a:p>
        </p:txBody>
      </p:sp>
    </p:spTree>
    <p:extLst>
      <p:ext uri="{BB962C8B-B14F-4D97-AF65-F5344CB8AC3E}">
        <p14:creationId xmlns:p14="http://schemas.microsoft.com/office/powerpoint/2010/main" val="3262172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3B3C7E-BC2D-4436-8B03-AC421FA66787}"/>
              </a:ext>
            </a:extLst>
          </p:cNvPr>
          <p:cNvSpPr/>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66887E-4265-46F7-9DE0-605FFFC90761}"/>
              </a:ext>
            </a:extLst>
          </p:cNvPr>
          <p:cNvSpPr>
            <a:spLocks noGrp="1"/>
          </p:cNvSpPr>
          <p:nvPr>
            <p:ph type="ctrTitle" hasCustomPrompt="1"/>
          </p:nvPr>
        </p:nvSpPr>
        <p:spPr>
          <a:xfrm>
            <a:off x="2035130" y="1066800"/>
            <a:ext cx="8112369" cy="2073119"/>
          </a:xfrm>
        </p:spPr>
        <p:txBody>
          <a:bodyPr anchor="b">
            <a:normAutofit/>
          </a:bodyPr>
          <a:lstStyle>
            <a:lvl1pPr algn="ctr">
              <a:lnSpc>
                <a:spcPct val="110000"/>
              </a:lnSpc>
              <a:defRPr sz="2800" cap="all" spc="390" baseline="0"/>
            </a:lvl1pPr>
          </a:lstStyle>
          <a:p>
            <a:r>
              <a:rPr lang="en-US" dirty="0"/>
              <a:t>CLICK TO EDIT MASTER TITLE STYLE</a:t>
            </a:r>
          </a:p>
        </p:txBody>
      </p:sp>
      <p:sp>
        <p:nvSpPr>
          <p:cNvPr id="3" name="Subtitle 2">
            <a:extLst>
              <a:ext uri="{FF2B5EF4-FFF2-40B4-BE49-F238E27FC236}">
                <a16:creationId xmlns:a16="http://schemas.microsoft.com/office/drawing/2014/main" id="{7EDB1A74-54F5-45CA-8922-87FFD57515D4}"/>
              </a:ext>
            </a:extLst>
          </p:cNvPr>
          <p:cNvSpPr>
            <a:spLocks noGrp="1"/>
          </p:cNvSpPr>
          <p:nvPr>
            <p:ph type="subTitle" idx="1"/>
          </p:nvPr>
        </p:nvSpPr>
        <p:spPr>
          <a:xfrm>
            <a:off x="2175804" y="4876802"/>
            <a:ext cx="7821637" cy="1028697"/>
          </a:xfrm>
        </p:spPr>
        <p:txBody>
          <a:bodyPr>
            <a:normAutofit/>
          </a:bodyPr>
          <a:lstStyle>
            <a:lvl1pPr marL="0" indent="0" algn="ct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B6BE6EF-9D0F-4ABF-B92C-E967FE3F16CF}"/>
              </a:ext>
            </a:extLst>
          </p:cNvPr>
          <p:cNvSpPr>
            <a:spLocks noGrp="1"/>
          </p:cNvSpPr>
          <p:nvPr>
            <p:ph type="dt" sz="half" idx="10"/>
          </p:nvPr>
        </p:nvSpPr>
        <p:spPr/>
        <p:txBody>
          <a:bodyPr/>
          <a:lstStyle/>
          <a:p>
            <a:fld id="{C485584D-7D79-4248-9986-4CA35242F944}" type="datetimeFigureOut">
              <a:rPr lang="en-US" smtClean="0"/>
              <a:t>3/1/22</a:t>
            </a:fld>
            <a:endParaRPr lang="en-US"/>
          </a:p>
        </p:txBody>
      </p:sp>
      <p:sp>
        <p:nvSpPr>
          <p:cNvPr id="5" name="Footer Placeholder 4">
            <a:extLst>
              <a:ext uri="{FF2B5EF4-FFF2-40B4-BE49-F238E27FC236}">
                <a16:creationId xmlns:a16="http://schemas.microsoft.com/office/drawing/2014/main" id="{4E4AB150-954C-4F02-89AC-DA7163D75C39}"/>
              </a:ext>
            </a:extLst>
          </p:cNvPr>
          <p:cNvSpPr>
            <a:spLocks noGrp="1"/>
          </p:cNvSpPr>
          <p:nvPr>
            <p:ph type="ftr" sz="quarter" idx="11"/>
          </p:nvPr>
        </p:nvSpPr>
        <p:spPr>
          <a:xfrm>
            <a:off x="7279965" y="6245352"/>
            <a:ext cx="4114800" cy="365125"/>
          </a:xfrm>
        </p:spPr>
        <p:txBody>
          <a:bodyPr/>
          <a:lstStyle/>
          <a:p>
            <a:endParaRPr lang="en-US"/>
          </a:p>
        </p:txBody>
      </p:sp>
      <p:sp>
        <p:nvSpPr>
          <p:cNvPr id="6" name="Slide Number Placeholder 5">
            <a:extLst>
              <a:ext uri="{FF2B5EF4-FFF2-40B4-BE49-F238E27FC236}">
                <a16:creationId xmlns:a16="http://schemas.microsoft.com/office/drawing/2014/main" id="{E8E16270-CBD7-4ACC-BFC5-9CADE7226688}"/>
              </a:ext>
            </a:extLst>
          </p:cNvPr>
          <p:cNvSpPr>
            <a:spLocks noGrp="1"/>
          </p:cNvSpPr>
          <p:nvPr>
            <p:ph type="sldNum" sz="quarter" idx="12"/>
          </p:nvPr>
        </p:nvSpPr>
        <p:spPr/>
        <p:txBody>
          <a:bodyPr/>
          <a:lstStyle/>
          <a:p>
            <a:fld id="{19590046-DA73-4BBF-84B5-C08E6F75191A}" type="slidenum">
              <a:rPr lang="en-US" smtClean="0"/>
              <a:t>‹#›</a:t>
            </a:fld>
            <a:endParaRPr lang="en-US"/>
          </a:p>
        </p:txBody>
      </p:sp>
      <p:grpSp>
        <p:nvGrpSpPr>
          <p:cNvPr id="7" name="Group 6">
            <a:extLst>
              <a:ext uri="{FF2B5EF4-FFF2-40B4-BE49-F238E27FC236}">
                <a16:creationId xmlns:a16="http://schemas.microsoft.com/office/drawing/2014/main" id="{79B5D0C1-066E-4C02-A6B8-59FAE4A19724}"/>
              </a:ext>
            </a:extLst>
          </p:cNvPr>
          <p:cNvGrpSpPr/>
          <p:nvPr/>
        </p:nvGrpSpPr>
        <p:grpSpPr>
          <a:xfrm>
            <a:off x="5662258" y="4240546"/>
            <a:ext cx="867485" cy="115439"/>
            <a:chOff x="8910933" y="1861308"/>
            <a:chExt cx="867485" cy="115439"/>
          </a:xfrm>
        </p:grpSpPr>
        <p:sp>
          <p:nvSpPr>
            <p:cNvPr id="8" name="Rectangle 7">
              <a:extLst>
                <a:ext uri="{FF2B5EF4-FFF2-40B4-BE49-F238E27FC236}">
                  <a16:creationId xmlns:a16="http://schemas.microsoft.com/office/drawing/2014/main" id="{D4386904-AFDC-449E-8D1B-906B305EBDA7}"/>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70778F2-11E8-428C-8324-479CA9D6FE92}"/>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0BE89E-CB2D-48BA-A8D2-533FAAAA725F}"/>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72906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DC87-4B97-4A7C-BC4C-6E772456161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B59FD9-57FD-4ABA-9FCD-7954052534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BD40E-B0AA-47B8-900F-488A8AEC1BC2}"/>
              </a:ext>
            </a:extLst>
          </p:cNvPr>
          <p:cNvSpPr>
            <a:spLocks noGrp="1"/>
          </p:cNvSpPr>
          <p:nvPr>
            <p:ph type="dt" sz="half" idx="10"/>
          </p:nvPr>
        </p:nvSpPr>
        <p:spPr/>
        <p:txBody>
          <a:bodyPr/>
          <a:lstStyle/>
          <a:p>
            <a:fld id="{C485584D-7D79-4248-9986-4CA35242F944}" type="datetimeFigureOut">
              <a:rPr lang="en-US" smtClean="0"/>
              <a:t>3/1/22</a:t>
            </a:fld>
            <a:endParaRPr lang="en-US"/>
          </a:p>
        </p:txBody>
      </p:sp>
      <p:sp>
        <p:nvSpPr>
          <p:cNvPr id="5" name="Footer Placeholder 4">
            <a:extLst>
              <a:ext uri="{FF2B5EF4-FFF2-40B4-BE49-F238E27FC236}">
                <a16:creationId xmlns:a16="http://schemas.microsoft.com/office/drawing/2014/main" id="{865E623C-1E35-4485-A5B4-A71969BE7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C6BB9-EF4F-465E-985B-34521F68C583}"/>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11480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7F5577-D71B-4279-B07A-62F703E5D1DC}"/>
              </a:ext>
            </a:extLst>
          </p:cNvPr>
          <p:cNvSpPr>
            <a:spLocks noGrp="1"/>
          </p:cNvSpPr>
          <p:nvPr>
            <p:ph type="dt" sz="half" idx="10"/>
          </p:nvPr>
        </p:nvSpPr>
        <p:spPr/>
        <p:txBody>
          <a:bodyPr/>
          <a:lstStyle/>
          <a:p>
            <a:fld id="{C485584D-7D79-4248-9986-4CA35242F944}" type="datetimeFigureOut">
              <a:rPr lang="en-US" smtClean="0"/>
              <a:t>3/1/22</a:t>
            </a:fld>
            <a:endParaRPr lang="en-US"/>
          </a:p>
        </p:txBody>
      </p:sp>
      <p:sp>
        <p:nvSpPr>
          <p:cNvPr id="5" name="Footer Placeholder 4">
            <a:extLst>
              <a:ext uri="{FF2B5EF4-FFF2-40B4-BE49-F238E27FC236}">
                <a16:creationId xmlns:a16="http://schemas.microsoft.com/office/drawing/2014/main" id="{F648367D-C35C-4023-BEBE-F834D033B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FCF8A-B8C6-496A-98A5-BBB52DB70F16}"/>
              </a:ext>
            </a:extLst>
          </p:cNvPr>
          <p:cNvSpPr>
            <a:spLocks noGrp="1"/>
          </p:cNvSpPr>
          <p:nvPr>
            <p:ph type="sldNum" sz="quarter" idx="12"/>
          </p:nvPr>
        </p:nvSpPr>
        <p:spPr/>
        <p:txBody>
          <a:bodyPr/>
          <a:lstStyle/>
          <a:p>
            <a:fld id="{19590046-DA73-4BBF-84B5-C08E6F75191A}" type="slidenum">
              <a:rPr lang="en-US" smtClean="0"/>
              <a:t>‹#›</a:t>
            </a:fld>
            <a:endParaRPr lang="en-US"/>
          </a:p>
        </p:txBody>
      </p:sp>
      <p:sp>
        <p:nvSpPr>
          <p:cNvPr id="11" name="Rectangle 5">
            <a:extLst>
              <a:ext uri="{FF2B5EF4-FFF2-40B4-BE49-F238E27FC236}">
                <a16:creationId xmlns:a16="http://schemas.microsoft.com/office/drawing/2014/main" id="{CDE45C10-227D-42DF-A888-EEFD3784FA8E}"/>
              </a:ext>
              <a:ext uri="{C183D7F6-B498-43B3-948B-1728B52AA6E4}">
                <adec:decorative xmlns:adec="http://schemas.microsoft.com/office/drawing/2017/decorative" val="1"/>
              </a:ext>
            </a:extLst>
          </p:cNvPr>
          <p:cNvSpPr/>
          <p:nvPr/>
        </p:nvSpPr>
        <p:spPr>
          <a:xfrm>
            <a:off x="723900" y="750338"/>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A214944-8898-48BC-AE6F-065DA7BBB8E8}"/>
              </a:ext>
              <a:ext uri="{C183D7F6-B498-43B3-948B-1728B52AA6E4}">
                <adec:decorative xmlns:adec="http://schemas.microsoft.com/office/drawing/2017/decorative" val="1"/>
              </a:ext>
            </a:extLst>
          </p:cNvPr>
          <p:cNvGrpSpPr/>
          <p:nvPr/>
        </p:nvGrpSpPr>
        <p:grpSpPr>
          <a:xfrm>
            <a:off x="2580478" y="4714704"/>
            <a:ext cx="867485" cy="115439"/>
            <a:chOff x="8910933" y="1861308"/>
            <a:chExt cx="867485" cy="115439"/>
          </a:xfrm>
        </p:grpSpPr>
        <p:sp>
          <p:nvSpPr>
            <p:cNvPr id="8" name="Rectangle 7">
              <a:extLst>
                <a:ext uri="{FF2B5EF4-FFF2-40B4-BE49-F238E27FC236}">
                  <a16:creationId xmlns:a16="http://schemas.microsoft.com/office/drawing/2014/main" id="{B94B3AAB-30C4-441D-B481-D253F8325953}"/>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DCB6176-5585-40BC-BC9C-CA625F989F1B}"/>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7C4F1D9-97D8-43DD-A319-C56367F97FCE}"/>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25E64ED-B373-4866-B5A2-E805D3168BBB}"/>
              </a:ext>
            </a:extLst>
          </p:cNvPr>
          <p:cNvSpPr>
            <a:spLocks noGrp="1"/>
          </p:cNvSpPr>
          <p:nvPr>
            <p:ph type="title"/>
          </p:nvPr>
        </p:nvSpPr>
        <p:spPr>
          <a:xfrm>
            <a:off x="1151291" y="1274475"/>
            <a:ext cx="3761832" cy="2823913"/>
          </a:xfrm>
        </p:spPr>
        <p:txBody>
          <a:bodyPr anchor="b">
            <a:normAutofit/>
          </a:bodyPr>
          <a:lstStyle>
            <a:lvl1pPr algn="ctr">
              <a:defRPr sz="3200" cap="all" spc="600" baseline="0"/>
            </a:lvl1pPr>
          </a:lstStyle>
          <a:p>
            <a:r>
              <a:rPr lang="en-US" dirty="0"/>
              <a:t>Click to edit Master title style</a:t>
            </a:r>
          </a:p>
        </p:txBody>
      </p:sp>
      <p:sp>
        <p:nvSpPr>
          <p:cNvPr id="3" name="Text Placeholder 2">
            <a:extLst>
              <a:ext uri="{FF2B5EF4-FFF2-40B4-BE49-F238E27FC236}">
                <a16:creationId xmlns:a16="http://schemas.microsoft.com/office/drawing/2014/main" id="{AB6D6168-DDAE-41B2-A0D5-42185A2D028C}"/>
              </a:ext>
            </a:extLst>
          </p:cNvPr>
          <p:cNvSpPr>
            <a:spLocks noGrp="1"/>
          </p:cNvSpPr>
          <p:nvPr>
            <p:ph type="body" idx="1"/>
          </p:nvPr>
        </p:nvSpPr>
        <p:spPr>
          <a:xfrm>
            <a:off x="6556756" y="2730304"/>
            <a:ext cx="4383030" cy="1397390"/>
          </a:xfrm>
        </p:spPr>
        <p:txBody>
          <a:bodyPr anchor="ct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11566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25EB-71EE-41B3-89D2-47A0C7C35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62F7D-C4AD-4BD4-AAC8-F0223EE4A38B}"/>
              </a:ext>
            </a:extLst>
          </p:cNvPr>
          <p:cNvSpPr>
            <a:spLocks noGrp="1"/>
          </p:cNvSpPr>
          <p:nvPr>
            <p:ph sz="half" idx="1"/>
          </p:nvPr>
        </p:nvSpPr>
        <p:spPr>
          <a:xfrm>
            <a:off x="1037305" y="2155369"/>
            <a:ext cx="4953000" cy="399832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D0FB088-28C6-4667-8DF2-0DE32AE3EC30}"/>
              </a:ext>
            </a:extLst>
          </p:cNvPr>
          <p:cNvSpPr>
            <a:spLocks noGrp="1"/>
          </p:cNvSpPr>
          <p:nvPr>
            <p:ph sz="half" idx="2"/>
          </p:nvPr>
        </p:nvSpPr>
        <p:spPr>
          <a:xfrm>
            <a:off x="6172200"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36095F-AE34-4E94-B722-E3A1205AEEDC}"/>
              </a:ext>
            </a:extLst>
          </p:cNvPr>
          <p:cNvSpPr>
            <a:spLocks noGrp="1"/>
          </p:cNvSpPr>
          <p:nvPr>
            <p:ph type="dt" sz="half" idx="10"/>
          </p:nvPr>
        </p:nvSpPr>
        <p:spPr/>
        <p:txBody>
          <a:bodyPr/>
          <a:lstStyle/>
          <a:p>
            <a:fld id="{C485584D-7D79-4248-9986-4CA35242F944}" type="datetimeFigureOut">
              <a:rPr lang="en-US" smtClean="0"/>
              <a:t>3/1/22</a:t>
            </a:fld>
            <a:endParaRPr lang="en-US"/>
          </a:p>
        </p:txBody>
      </p:sp>
      <p:sp>
        <p:nvSpPr>
          <p:cNvPr id="6" name="Footer Placeholder 5">
            <a:extLst>
              <a:ext uri="{FF2B5EF4-FFF2-40B4-BE49-F238E27FC236}">
                <a16:creationId xmlns:a16="http://schemas.microsoft.com/office/drawing/2014/main" id="{6E06A8E6-BD94-48EA-8F35-DA0DF910A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78AEF-56B8-49F5-81E8-663B1FFA073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251948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873F-001F-4254-97F3-05329E6A7B67}"/>
              </a:ext>
            </a:extLst>
          </p:cNvPr>
          <p:cNvSpPr>
            <a:spLocks noGrp="1"/>
          </p:cNvSpPr>
          <p:nvPr>
            <p:ph type="title"/>
          </p:nvPr>
        </p:nvSpPr>
        <p:spPr>
          <a:xfrm>
            <a:off x="1028700" y="555171"/>
            <a:ext cx="10134600" cy="113551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4A37B575-060F-4296-A28A-93DA109F96F5}"/>
              </a:ext>
            </a:extLst>
          </p:cNvPr>
          <p:cNvSpPr>
            <a:spLocks noGrp="1"/>
          </p:cNvSpPr>
          <p:nvPr>
            <p:ph type="body" idx="1"/>
          </p:nvPr>
        </p:nvSpPr>
        <p:spPr>
          <a:xfrm>
            <a:off x="1037306" y="1801620"/>
            <a:ext cx="4849036"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A581A51-F4D1-4A02-9918-C416F820B646}"/>
              </a:ext>
            </a:extLst>
          </p:cNvPr>
          <p:cNvSpPr>
            <a:spLocks noGrp="1"/>
          </p:cNvSpPr>
          <p:nvPr>
            <p:ph sz="half" idx="2"/>
          </p:nvPr>
        </p:nvSpPr>
        <p:spPr>
          <a:xfrm>
            <a:off x="1037306" y="2619103"/>
            <a:ext cx="4849036"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2916D0-3DFE-455D-9888-3FDEFD3DE0CD}"/>
              </a:ext>
            </a:extLst>
          </p:cNvPr>
          <p:cNvSpPr>
            <a:spLocks noGrp="1"/>
          </p:cNvSpPr>
          <p:nvPr>
            <p:ph type="body" sz="quarter" idx="3"/>
          </p:nvPr>
        </p:nvSpPr>
        <p:spPr>
          <a:xfrm>
            <a:off x="6250108" y="1801620"/>
            <a:ext cx="4904585"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093D763-0643-4A48-8007-93391C59F6D5}"/>
              </a:ext>
            </a:extLst>
          </p:cNvPr>
          <p:cNvSpPr>
            <a:spLocks noGrp="1"/>
          </p:cNvSpPr>
          <p:nvPr>
            <p:ph sz="quarter" idx="4"/>
          </p:nvPr>
        </p:nvSpPr>
        <p:spPr>
          <a:xfrm>
            <a:off x="6250108" y="2619103"/>
            <a:ext cx="4904585"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A2D07B-3A5D-41C2-83B8-BD1AD6522CAD}"/>
              </a:ext>
            </a:extLst>
          </p:cNvPr>
          <p:cNvSpPr>
            <a:spLocks noGrp="1"/>
          </p:cNvSpPr>
          <p:nvPr>
            <p:ph type="dt" sz="half" idx="10"/>
          </p:nvPr>
        </p:nvSpPr>
        <p:spPr/>
        <p:txBody>
          <a:bodyPr/>
          <a:lstStyle/>
          <a:p>
            <a:fld id="{C485584D-7D79-4248-9986-4CA35242F944}" type="datetimeFigureOut">
              <a:rPr lang="en-US" smtClean="0"/>
              <a:t>3/1/22</a:t>
            </a:fld>
            <a:endParaRPr lang="en-US"/>
          </a:p>
        </p:txBody>
      </p:sp>
      <p:sp>
        <p:nvSpPr>
          <p:cNvPr id="8" name="Footer Placeholder 7">
            <a:extLst>
              <a:ext uri="{FF2B5EF4-FFF2-40B4-BE49-F238E27FC236}">
                <a16:creationId xmlns:a16="http://schemas.microsoft.com/office/drawing/2014/main" id="{0E2C1367-FE5A-4CDD-B85B-724FFFE5B5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2F244-23EB-4E1A-B74F-77F23F87978D}"/>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545729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6C0A-BEF4-4DE4-A9D2-C60298FC7F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7C0AC-3C98-4D68-AE72-CFFA1638CC02}"/>
              </a:ext>
            </a:extLst>
          </p:cNvPr>
          <p:cNvSpPr>
            <a:spLocks noGrp="1"/>
          </p:cNvSpPr>
          <p:nvPr>
            <p:ph type="dt" sz="half" idx="10"/>
          </p:nvPr>
        </p:nvSpPr>
        <p:spPr/>
        <p:txBody>
          <a:bodyPr/>
          <a:lstStyle/>
          <a:p>
            <a:fld id="{C485584D-7D79-4248-9986-4CA35242F944}" type="datetimeFigureOut">
              <a:rPr lang="en-US" smtClean="0"/>
              <a:t>3/1/22</a:t>
            </a:fld>
            <a:endParaRPr lang="en-US"/>
          </a:p>
        </p:txBody>
      </p:sp>
      <p:sp>
        <p:nvSpPr>
          <p:cNvPr id="4" name="Footer Placeholder 3">
            <a:extLst>
              <a:ext uri="{FF2B5EF4-FFF2-40B4-BE49-F238E27FC236}">
                <a16:creationId xmlns:a16="http://schemas.microsoft.com/office/drawing/2014/main" id="{FEA7722A-E2E4-45D2-8A20-4853ED6837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6B9201-B20B-4412-B745-F2F6A91487E8}"/>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4274143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4889A-9ABE-4409-BAD8-F84C36C1FA09}"/>
              </a:ext>
            </a:extLst>
          </p:cNvPr>
          <p:cNvSpPr>
            <a:spLocks noGrp="1"/>
          </p:cNvSpPr>
          <p:nvPr>
            <p:ph type="dt" sz="half" idx="10"/>
          </p:nvPr>
        </p:nvSpPr>
        <p:spPr/>
        <p:txBody>
          <a:bodyPr/>
          <a:lstStyle/>
          <a:p>
            <a:fld id="{C485584D-7D79-4248-9986-4CA35242F944}" type="datetimeFigureOut">
              <a:rPr lang="en-US" smtClean="0"/>
              <a:t>3/1/22</a:t>
            </a:fld>
            <a:endParaRPr lang="en-US"/>
          </a:p>
        </p:txBody>
      </p:sp>
      <p:sp>
        <p:nvSpPr>
          <p:cNvPr id="3" name="Footer Placeholder 2">
            <a:extLst>
              <a:ext uri="{FF2B5EF4-FFF2-40B4-BE49-F238E27FC236}">
                <a16:creationId xmlns:a16="http://schemas.microsoft.com/office/drawing/2014/main" id="{7DDA5A70-FE21-4CB6-A67B-1DC798E9E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84AD11-7FD2-432C-A6AB-395BE9275C1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4166029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97CF-9CDD-4E78-8F35-A2FFE7867419}"/>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7194BFE-7A85-4123-B0F7-4DB1C141CE60}"/>
              </a:ext>
            </a:extLst>
          </p:cNvPr>
          <p:cNvSpPr>
            <a:spLocks noGrp="1"/>
          </p:cNvSpPr>
          <p:nvPr>
            <p:ph idx="1"/>
          </p:nvPr>
        </p:nvSpPr>
        <p:spPr>
          <a:xfrm>
            <a:off x="5183188" y="1066800"/>
            <a:ext cx="6172200" cy="48386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41EFD6D-1929-4A73-A860-22A36FF5C17D}"/>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B399A5-94A1-4452-AFF0-918BDA8B14F9}"/>
              </a:ext>
            </a:extLst>
          </p:cNvPr>
          <p:cNvSpPr>
            <a:spLocks noGrp="1"/>
          </p:cNvSpPr>
          <p:nvPr>
            <p:ph type="dt" sz="half" idx="10"/>
          </p:nvPr>
        </p:nvSpPr>
        <p:spPr/>
        <p:txBody>
          <a:bodyPr/>
          <a:lstStyle/>
          <a:p>
            <a:fld id="{C485584D-7D79-4248-9986-4CA35242F944}" type="datetimeFigureOut">
              <a:rPr lang="en-US" smtClean="0"/>
              <a:t>3/1/22</a:t>
            </a:fld>
            <a:endParaRPr lang="en-US"/>
          </a:p>
        </p:txBody>
      </p:sp>
      <p:sp>
        <p:nvSpPr>
          <p:cNvPr id="6" name="Footer Placeholder 5">
            <a:extLst>
              <a:ext uri="{FF2B5EF4-FFF2-40B4-BE49-F238E27FC236}">
                <a16:creationId xmlns:a16="http://schemas.microsoft.com/office/drawing/2014/main" id="{489589D8-DD83-406C-A77A-176D23993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46024-82ED-40EF-8846-F6CC44BC53DE}"/>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519839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12FA-83A4-42AF-98D7-312C4C5A7128}"/>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6CF1DC8-2932-4C6E-BFBB-8BA1C9598425}"/>
              </a:ext>
            </a:extLst>
          </p:cNvPr>
          <p:cNvSpPr>
            <a:spLocks noGrp="1"/>
          </p:cNvSpPr>
          <p:nvPr>
            <p:ph type="pic" idx="1"/>
          </p:nvPr>
        </p:nvSpPr>
        <p:spPr>
          <a:xfrm>
            <a:off x="5183188" y="1066800"/>
            <a:ext cx="5942012" cy="48387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D6E0000-EF01-46A5-8A71-25FB7EA3F94A}"/>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1AD40B-9246-4532-9F73-5BA9061C3ABA}"/>
              </a:ext>
            </a:extLst>
          </p:cNvPr>
          <p:cNvSpPr>
            <a:spLocks noGrp="1"/>
          </p:cNvSpPr>
          <p:nvPr>
            <p:ph type="dt" sz="half" idx="10"/>
          </p:nvPr>
        </p:nvSpPr>
        <p:spPr/>
        <p:txBody>
          <a:bodyPr/>
          <a:lstStyle/>
          <a:p>
            <a:fld id="{C485584D-7D79-4248-9986-4CA35242F944}" type="datetimeFigureOut">
              <a:rPr lang="en-US" smtClean="0"/>
              <a:t>3/1/22</a:t>
            </a:fld>
            <a:endParaRPr lang="en-US"/>
          </a:p>
        </p:txBody>
      </p:sp>
      <p:sp>
        <p:nvSpPr>
          <p:cNvPr id="6" name="Footer Placeholder 5">
            <a:extLst>
              <a:ext uri="{FF2B5EF4-FFF2-40B4-BE49-F238E27FC236}">
                <a16:creationId xmlns:a16="http://schemas.microsoft.com/office/drawing/2014/main" id="{8BE6B9A0-5B1C-4F7B-828A-EF74E51478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2E99FB-C932-4165-A612-8B302D8F7229}"/>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013106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1126-542A-43AD-8078-EE35651654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A5F98B-5F32-4561-BFBC-9F6E5DA0A347}"/>
              </a:ext>
            </a:extLst>
          </p:cNvPr>
          <p:cNvSpPr>
            <a:spLocks noGrp="1"/>
          </p:cNvSpPr>
          <p:nvPr>
            <p:ph type="body" orient="vert" idx="1"/>
          </p:nvPr>
        </p:nvSpPr>
        <p:spPr>
          <a:xfrm>
            <a:off x="1028700" y="2161903"/>
            <a:ext cx="10134600" cy="3743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3D0DD-B04E-4E48-8EE1-51E46131A9A2}"/>
              </a:ext>
            </a:extLst>
          </p:cNvPr>
          <p:cNvSpPr>
            <a:spLocks noGrp="1"/>
          </p:cNvSpPr>
          <p:nvPr>
            <p:ph type="dt" sz="half" idx="10"/>
          </p:nvPr>
        </p:nvSpPr>
        <p:spPr/>
        <p:txBody>
          <a:bodyPr/>
          <a:lstStyle/>
          <a:p>
            <a:fld id="{C485584D-7D79-4248-9986-4CA35242F944}" type="datetimeFigureOut">
              <a:rPr lang="en-US" smtClean="0"/>
              <a:t>3/1/22</a:t>
            </a:fld>
            <a:endParaRPr lang="en-US"/>
          </a:p>
        </p:txBody>
      </p:sp>
      <p:sp>
        <p:nvSpPr>
          <p:cNvPr id="5" name="Footer Placeholder 4">
            <a:extLst>
              <a:ext uri="{FF2B5EF4-FFF2-40B4-BE49-F238E27FC236}">
                <a16:creationId xmlns:a16="http://schemas.microsoft.com/office/drawing/2014/main" id="{0481352D-F9C0-4442-9601-A09A7655E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C0801-9C45-40AE-AB33-5742CDA4DAC7}"/>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861577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46561-59BF-4566-AD2C-9B05C4771DF4}"/>
              </a:ext>
            </a:extLst>
          </p:cNvPr>
          <p:cNvSpPr>
            <a:spLocks noGrp="1"/>
          </p:cNvSpPr>
          <p:nvPr>
            <p:ph type="title" orient="vert"/>
          </p:nvPr>
        </p:nvSpPr>
        <p:spPr>
          <a:xfrm>
            <a:off x="9196250" y="723899"/>
            <a:ext cx="2271849" cy="54102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1DF7870-6CBD-47E2-854C-68141BAA101D}"/>
              </a:ext>
            </a:extLst>
          </p:cNvPr>
          <p:cNvSpPr>
            <a:spLocks noGrp="1"/>
          </p:cNvSpPr>
          <p:nvPr>
            <p:ph type="body" orient="vert" idx="1"/>
          </p:nvPr>
        </p:nvSpPr>
        <p:spPr>
          <a:xfrm>
            <a:off x="723900" y="723899"/>
            <a:ext cx="8302534" cy="5410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712FAF3-C106-49CB-A845-1FC7F731399D}"/>
              </a:ext>
            </a:extLst>
          </p:cNvPr>
          <p:cNvSpPr>
            <a:spLocks noGrp="1"/>
          </p:cNvSpPr>
          <p:nvPr>
            <p:ph type="dt" sz="half" idx="10"/>
          </p:nvPr>
        </p:nvSpPr>
        <p:spPr/>
        <p:txBody>
          <a:bodyPr/>
          <a:lstStyle/>
          <a:p>
            <a:fld id="{C485584D-7D79-4248-9986-4CA35242F944}" type="datetimeFigureOut">
              <a:rPr lang="en-US" smtClean="0"/>
              <a:t>3/1/22</a:t>
            </a:fld>
            <a:endParaRPr lang="en-US"/>
          </a:p>
        </p:txBody>
      </p:sp>
      <p:sp>
        <p:nvSpPr>
          <p:cNvPr id="5" name="Footer Placeholder 4">
            <a:extLst>
              <a:ext uri="{FF2B5EF4-FFF2-40B4-BE49-F238E27FC236}">
                <a16:creationId xmlns:a16="http://schemas.microsoft.com/office/drawing/2014/main" id="{E34D5CCC-00E8-48FA-91A6-921E7B644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E1751-E7AA-406D-A977-1ACEF1FBD134}"/>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830238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CE7638-D991-46E7-BF2C-67D1AC829628}"/>
              </a:ext>
            </a:extLst>
          </p:cNvPr>
          <p:cNvSpPr>
            <a:spLocks noGrp="1"/>
          </p:cNvSpPr>
          <p:nvPr>
            <p:ph type="title"/>
          </p:nvPr>
        </p:nvSpPr>
        <p:spPr>
          <a:xfrm>
            <a:off x="1028700" y="723900"/>
            <a:ext cx="10134600" cy="1288489"/>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CA7C6B9C-4923-4DAB-9748-D5CD289EB978}"/>
              </a:ext>
            </a:extLst>
          </p:cNvPr>
          <p:cNvSpPr>
            <a:spLocks noGrp="1"/>
          </p:cNvSpPr>
          <p:nvPr>
            <p:ph type="body" idx="1"/>
          </p:nvPr>
        </p:nvSpPr>
        <p:spPr>
          <a:xfrm>
            <a:off x="1028700" y="2161903"/>
            <a:ext cx="10134600" cy="39693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7578CF6-4B33-40E4-B881-5F4C568378E1}"/>
              </a:ext>
            </a:extLst>
          </p:cNvPr>
          <p:cNvSpPr>
            <a:spLocks noGrp="1"/>
          </p:cNvSpPr>
          <p:nvPr>
            <p:ph type="sldNum" sz="quarter" idx="4"/>
          </p:nvPr>
        </p:nvSpPr>
        <p:spPr>
          <a:xfrm>
            <a:off x="11394765" y="6245032"/>
            <a:ext cx="524491" cy="365125"/>
          </a:xfrm>
          <a:prstGeom prst="rect">
            <a:avLst/>
          </a:prstGeom>
        </p:spPr>
        <p:txBody>
          <a:bodyPr vert="horz" lIns="91440" tIns="45720" rIns="91440" bIns="45720" rtlCol="0" anchor="ctr"/>
          <a:lstStyle>
            <a:lvl1pPr algn="r">
              <a:defRPr sz="1050">
                <a:solidFill>
                  <a:schemeClr val="tx2"/>
                </a:solidFill>
              </a:defRPr>
            </a:lvl1pPr>
          </a:lstStyle>
          <a:p>
            <a:fld id="{19590046-DA73-4BBF-84B5-C08E6F75191A}" type="slidenum">
              <a:rPr lang="en-US" smtClean="0"/>
              <a:t>‹#›</a:t>
            </a:fld>
            <a:endParaRPr lang="en-US"/>
          </a:p>
        </p:txBody>
      </p:sp>
      <p:sp>
        <p:nvSpPr>
          <p:cNvPr id="4" name="Date Placeholder 3">
            <a:extLst>
              <a:ext uri="{FF2B5EF4-FFF2-40B4-BE49-F238E27FC236}">
                <a16:creationId xmlns:a16="http://schemas.microsoft.com/office/drawing/2014/main" id="{25AE857E-F564-4539-9984-10435B6140AC}"/>
              </a:ext>
            </a:extLst>
          </p:cNvPr>
          <p:cNvSpPr>
            <a:spLocks noGrp="1"/>
          </p:cNvSpPr>
          <p:nvPr>
            <p:ph type="dt" sz="half" idx="2"/>
          </p:nvPr>
        </p:nvSpPr>
        <p:spPr>
          <a:xfrm>
            <a:off x="354841" y="6245032"/>
            <a:ext cx="2659380" cy="365125"/>
          </a:xfrm>
          <a:prstGeom prst="rect">
            <a:avLst/>
          </a:prstGeom>
        </p:spPr>
        <p:txBody>
          <a:bodyPr vert="horz" lIns="91440" tIns="45720" rIns="91440" bIns="45720" rtlCol="0" anchor="ctr"/>
          <a:lstStyle>
            <a:lvl1pPr algn="l">
              <a:defRPr sz="1050">
                <a:solidFill>
                  <a:schemeClr val="tx2"/>
                </a:solidFill>
              </a:defRPr>
            </a:lvl1pPr>
          </a:lstStyle>
          <a:p>
            <a:fld id="{C485584D-7D79-4248-9986-4CA35242F944}" type="datetimeFigureOut">
              <a:rPr lang="en-US" smtClean="0"/>
              <a:t>3/1/22</a:t>
            </a:fld>
            <a:endParaRPr lang="en-US"/>
          </a:p>
        </p:txBody>
      </p:sp>
      <p:sp>
        <p:nvSpPr>
          <p:cNvPr id="5" name="Footer Placeholder 4">
            <a:extLst>
              <a:ext uri="{FF2B5EF4-FFF2-40B4-BE49-F238E27FC236}">
                <a16:creationId xmlns:a16="http://schemas.microsoft.com/office/drawing/2014/main" id="{7D1EABEF-B998-4B11-A878-8F492F8E3983}"/>
              </a:ext>
            </a:extLst>
          </p:cNvPr>
          <p:cNvSpPr>
            <a:spLocks noGrp="1"/>
          </p:cNvSpPr>
          <p:nvPr>
            <p:ph type="ftr" sz="quarter" idx="3"/>
          </p:nvPr>
        </p:nvSpPr>
        <p:spPr>
          <a:xfrm>
            <a:off x="7279964" y="6245033"/>
            <a:ext cx="4112222" cy="365125"/>
          </a:xfrm>
          <a:prstGeom prst="rect">
            <a:avLst/>
          </a:prstGeom>
        </p:spPr>
        <p:txBody>
          <a:bodyPr vert="horz" lIns="91440" tIns="45720" rIns="91440" bIns="45720" rtlCol="0" anchor="ctr"/>
          <a:lstStyle>
            <a:lvl1pPr algn="r">
              <a:defRPr sz="1050">
                <a:solidFill>
                  <a:schemeClr val="tx2"/>
                </a:solidFill>
              </a:defRPr>
            </a:lvl1pPr>
          </a:lstStyle>
          <a:p>
            <a:endParaRPr lang="en-US"/>
          </a:p>
        </p:txBody>
      </p:sp>
      <p:sp>
        <p:nvSpPr>
          <p:cNvPr id="16" name="Freeform: Shape 15">
            <a:extLst>
              <a:ext uri="{FF2B5EF4-FFF2-40B4-BE49-F238E27FC236}">
                <a16:creationId xmlns:a16="http://schemas.microsoft.com/office/drawing/2014/main" id="{9EB54D17-3792-403D-9127-495845021D2B}"/>
              </a:ext>
            </a:extLst>
          </p:cNvPr>
          <p:cNvSpPr/>
          <p:nvPr/>
        </p:nvSpPr>
        <p:spPr>
          <a:xfrm>
            <a:off x="0" y="0"/>
            <a:ext cx="12192000" cy="6858000"/>
          </a:xfrm>
          <a:custGeom>
            <a:avLst/>
            <a:gdLst>
              <a:gd name="connsiteX0" fmla="*/ 160920 w 12192000"/>
              <a:gd name="connsiteY0" fmla="*/ 157606 h 6858000"/>
              <a:gd name="connsiteX1" fmla="*/ 160920 w 12192000"/>
              <a:gd name="connsiteY1" fmla="*/ 6700394 h 6858000"/>
              <a:gd name="connsiteX2" fmla="*/ 12031081 w 12192000"/>
              <a:gd name="connsiteY2" fmla="*/ 6700394 h 6858000"/>
              <a:gd name="connsiteX3" fmla="*/ 12031081 w 12192000"/>
              <a:gd name="connsiteY3" fmla="*/ 15760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60920" y="157606"/>
                </a:moveTo>
                <a:lnTo>
                  <a:pt x="160920" y="6700394"/>
                </a:lnTo>
                <a:lnTo>
                  <a:pt x="12031081" y="6700394"/>
                </a:lnTo>
                <a:lnTo>
                  <a:pt x="12031081" y="157606"/>
                </a:lnTo>
                <a:close/>
                <a:moveTo>
                  <a:pt x="0" y="0"/>
                </a:moveTo>
                <a:lnTo>
                  <a:pt x="12192000" y="0"/>
                </a:lnTo>
                <a:lnTo>
                  <a:pt x="12192000"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2049852"/>
      </p:ext>
    </p:extLst>
  </p:cSld>
  <p:clrMap bg1="lt1" tx1="dk1" bg2="lt2" tx2="dk2" accent1="accent1" accent2="accent2" accent3="accent3" accent4="accent4" accent5="accent5" accent6="accent6" hlink="hlink" folHlink="folHlink"/>
  <p:sldLayoutIdLst>
    <p:sldLayoutId id="2147484017" r:id="rId1"/>
    <p:sldLayoutId id="2147484018" r:id="rId2"/>
    <p:sldLayoutId id="2147484019" r:id="rId3"/>
    <p:sldLayoutId id="2147484020" r:id="rId4"/>
    <p:sldLayoutId id="2147484021" r:id="rId5"/>
    <p:sldLayoutId id="2147484027" r:id="rId6"/>
    <p:sldLayoutId id="2147484022" r:id="rId7"/>
    <p:sldLayoutId id="2147484023" r:id="rId8"/>
    <p:sldLayoutId id="2147484024" r:id="rId9"/>
    <p:sldLayoutId id="2147484026" r:id="rId10"/>
    <p:sldLayoutId id="2147484025" r:id="rId11"/>
  </p:sldLayoutIdLst>
  <p:txStyles>
    <p:titleStyle>
      <a:lvl1pPr algn="l" defTabSz="914400" rtl="0" eaLnBrk="1" latinLnBrk="0" hangingPunct="1">
        <a:lnSpc>
          <a:spcPct val="110000"/>
        </a:lnSpc>
        <a:spcBef>
          <a:spcPct val="0"/>
        </a:spcBef>
        <a:buNone/>
        <a:defRPr sz="3200" kern="1200" cap="none" baseline="0">
          <a:solidFill>
            <a:schemeClr val="tx2"/>
          </a:solidFill>
          <a:latin typeface="+mj-lt"/>
          <a:ea typeface="+mj-ea"/>
          <a:cs typeface="+mj-cs"/>
        </a:defRPr>
      </a:lvl1pPr>
    </p:titleStyle>
    <p:body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0.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6.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DF0CAD46-2E46-44EB-A063-C05881768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3" descr="Abstract particle graph background">
            <a:extLst>
              <a:ext uri="{FF2B5EF4-FFF2-40B4-BE49-F238E27FC236}">
                <a16:creationId xmlns:a16="http://schemas.microsoft.com/office/drawing/2014/main" id="{A0C28D21-D1D1-447D-B455-0AC49B000D59}"/>
              </a:ext>
            </a:extLst>
          </p:cNvPr>
          <p:cNvPicPr>
            <a:picLocks noChangeAspect="1"/>
          </p:cNvPicPr>
          <p:nvPr/>
        </p:nvPicPr>
        <p:blipFill rotWithShape="1">
          <a:blip r:embed="rId2"/>
          <a:srcRect t="15730"/>
          <a:stretch/>
        </p:blipFill>
        <p:spPr>
          <a:xfrm>
            <a:off x="20" y="1"/>
            <a:ext cx="12191980" cy="6858000"/>
          </a:xfrm>
          <a:prstGeom prst="rect">
            <a:avLst/>
          </a:prstGeom>
        </p:spPr>
      </p:pic>
      <p:sp>
        <p:nvSpPr>
          <p:cNvPr id="80" name="Rectangle 79">
            <a:extLst>
              <a:ext uri="{FF2B5EF4-FFF2-40B4-BE49-F238E27FC236}">
                <a16:creationId xmlns:a16="http://schemas.microsoft.com/office/drawing/2014/main" id="{0FDFF237-4369-41A3-9CE4-CD1A68139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49553"/>
            <a:ext cx="12191999" cy="5320052"/>
          </a:xfrm>
          <a:prstGeom prst="rect">
            <a:avLst/>
          </a:prstGeom>
          <a:gradFill flip="none" rotWithShape="1">
            <a:gsLst>
              <a:gs pos="0">
                <a:srgbClr val="000000">
                  <a:alpha val="0"/>
                </a:srgbClr>
              </a:gs>
              <a:gs pos="47000">
                <a:srgbClr val="000000">
                  <a:alpha val="41000"/>
                </a:srgbClr>
              </a:gs>
              <a:gs pos="81000">
                <a:srgbClr val="000000">
                  <a:alpha val="5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ADCB51-3238-FF41-8D47-18A939A93878}"/>
              </a:ext>
            </a:extLst>
          </p:cNvPr>
          <p:cNvSpPr>
            <a:spLocks noGrp="1"/>
          </p:cNvSpPr>
          <p:nvPr>
            <p:ph type="ctrTitle"/>
          </p:nvPr>
        </p:nvSpPr>
        <p:spPr>
          <a:xfrm>
            <a:off x="2076091" y="2633933"/>
            <a:ext cx="8039818" cy="1643572"/>
          </a:xfrm>
        </p:spPr>
        <p:txBody>
          <a:bodyPr>
            <a:normAutofit/>
          </a:bodyPr>
          <a:lstStyle/>
          <a:p>
            <a:r>
              <a:rPr lang="en-US">
                <a:solidFill>
                  <a:srgbClr val="FFFFFF"/>
                </a:solidFill>
              </a:rPr>
              <a:t>ECE 580 Mini Project 1: Compressed Sensing Image Recovery</a:t>
            </a:r>
          </a:p>
        </p:txBody>
      </p:sp>
      <p:sp>
        <p:nvSpPr>
          <p:cNvPr id="3" name="Subtitle 2">
            <a:extLst>
              <a:ext uri="{FF2B5EF4-FFF2-40B4-BE49-F238E27FC236}">
                <a16:creationId xmlns:a16="http://schemas.microsoft.com/office/drawing/2014/main" id="{459460A8-2DE6-D44E-89E7-702A1D9E1A31}"/>
              </a:ext>
            </a:extLst>
          </p:cNvPr>
          <p:cNvSpPr>
            <a:spLocks noGrp="1"/>
          </p:cNvSpPr>
          <p:nvPr>
            <p:ph type="subTitle" idx="1"/>
          </p:nvPr>
        </p:nvSpPr>
        <p:spPr>
          <a:xfrm>
            <a:off x="1857556" y="5272809"/>
            <a:ext cx="8442384" cy="725018"/>
          </a:xfrm>
        </p:spPr>
        <p:txBody>
          <a:bodyPr>
            <a:normAutofit/>
          </a:bodyPr>
          <a:lstStyle/>
          <a:p>
            <a:pPr>
              <a:lnSpc>
                <a:spcPct val="90000"/>
              </a:lnSpc>
            </a:pPr>
            <a:r>
              <a:rPr lang="en-US" sz="1700">
                <a:solidFill>
                  <a:srgbClr val="FFFFFF"/>
                </a:solidFill>
              </a:rPr>
              <a:t>Sanika Gupte</a:t>
            </a:r>
          </a:p>
          <a:p>
            <a:pPr>
              <a:lnSpc>
                <a:spcPct val="90000"/>
              </a:lnSpc>
            </a:pPr>
            <a:r>
              <a:rPr lang="en-US" sz="1700">
                <a:solidFill>
                  <a:srgbClr val="FFFFFF"/>
                </a:solidFill>
              </a:rPr>
              <a:t>March 3, 2022</a:t>
            </a:r>
          </a:p>
        </p:txBody>
      </p:sp>
      <p:grpSp>
        <p:nvGrpSpPr>
          <p:cNvPr id="82" name="Group 81">
            <a:extLst>
              <a:ext uri="{FF2B5EF4-FFF2-40B4-BE49-F238E27FC236}">
                <a16:creationId xmlns:a16="http://schemas.microsoft.com/office/drawing/2014/main" id="{C3E45FAB-3768-4529-B0E8-A0E9BE5E38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739509"/>
            <a:ext cx="867485" cy="115439"/>
            <a:chOff x="8910933" y="1861308"/>
            <a:chExt cx="867485" cy="115439"/>
          </a:xfrm>
        </p:grpSpPr>
        <p:sp>
          <p:nvSpPr>
            <p:cNvPr id="83" name="Rectangle 82">
              <a:extLst>
                <a:ext uri="{FF2B5EF4-FFF2-40B4-BE49-F238E27FC236}">
                  <a16:creationId xmlns:a16="http://schemas.microsoft.com/office/drawing/2014/main" id="{6FF68CFF-0675-43D9-8EF2-EAC1F19D2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84" name="Straight Connector 83">
              <a:extLst>
                <a:ext uri="{FF2B5EF4-FFF2-40B4-BE49-F238E27FC236}">
                  <a16:creationId xmlns:a16="http://schemas.microsoft.com/office/drawing/2014/main" id="{E1414FA8-D7DF-4B14-AD83-846AB2899B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38B88A0-A01D-4106-8E09-1AEB09B04EC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5016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44" name="Rectangle 29">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45" name="Straight Connector 30">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34" name="Rectangle 33">
            <a:extLst>
              <a:ext uri="{FF2B5EF4-FFF2-40B4-BE49-F238E27FC236}">
                <a16:creationId xmlns:a16="http://schemas.microsoft.com/office/drawing/2014/main" id="{4905C695-F54E-4EF8-8AEF-811D460E7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85CD2A3-2099-476E-9A85-55DC735FA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700" y="1028700"/>
            <a:ext cx="10134600" cy="48023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B1956D-E74A-8E49-B432-2F6873E075D1}"/>
              </a:ext>
            </a:extLst>
          </p:cNvPr>
          <p:cNvSpPr>
            <a:spLocks noGrp="1"/>
          </p:cNvSpPr>
          <p:nvPr>
            <p:ph type="title"/>
          </p:nvPr>
        </p:nvSpPr>
        <p:spPr>
          <a:xfrm>
            <a:off x="2408583" y="1503007"/>
            <a:ext cx="7374834" cy="1868049"/>
          </a:xfrm>
        </p:spPr>
        <p:txBody>
          <a:bodyPr vert="horz" lIns="91440" tIns="45720" rIns="91440" bIns="45720" rtlCol="0" anchor="b">
            <a:normAutofit/>
          </a:bodyPr>
          <a:lstStyle/>
          <a:p>
            <a:r>
              <a:rPr lang="en-US" sz="2800" kern="1200" cap="all" spc="390" baseline="0">
                <a:solidFill>
                  <a:schemeClr val="tx2"/>
                </a:solidFill>
                <a:latin typeface="+mj-lt"/>
                <a:ea typeface="+mj-ea"/>
                <a:cs typeface="+mj-cs"/>
              </a:rPr>
              <a:t>Background</a:t>
            </a:r>
            <a:endParaRPr lang="en-US" sz="2800" kern="1200" cap="all" spc="390" baseline="0" dirty="0">
              <a:solidFill>
                <a:schemeClr val="tx2"/>
              </a:solidFill>
              <a:latin typeface="+mj-lt"/>
              <a:ea typeface="+mj-ea"/>
              <a:cs typeface="+mj-cs"/>
            </a:endParaRPr>
          </a:p>
        </p:txBody>
      </p:sp>
      <p:sp>
        <p:nvSpPr>
          <p:cNvPr id="3" name="Text Placeholder 2">
            <a:extLst>
              <a:ext uri="{FF2B5EF4-FFF2-40B4-BE49-F238E27FC236}">
                <a16:creationId xmlns:a16="http://schemas.microsoft.com/office/drawing/2014/main" id="{8D50DA9E-75FE-B646-80F6-61959E7607BA}"/>
              </a:ext>
            </a:extLst>
          </p:cNvPr>
          <p:cNvSpPr>
            <a:spLocks noGrp="1"/>
          </p:cNvSpPr>
          <p:nvPr>
            <p:ph type="body" idx="1"/>
          </p:nvPr>
        </p:nvSpPr>
        <p:spPr>
          <a:xfrm>
            <a:off x="2885661" y="4509051"/>
            <a:ext cx="6420678" cy="978654"/>
          </a:xfrm>
        </p:spPr>
        <p:txBody>
          <a:bodyPr vert="horz" lIns="91440" tIns="45720" rIns="91440" bIns="45720" rtlCol="0" anchor="t">
            <a:normAutofit/>
          </a:bodyPr>
          <a:lstStyle/>
          <a:p>
            <a:pPr>
              <a:lnSpc>
                <a:spcPct val="100000"/>
              </a:lnSpc>
            </a:pPr>
            <a:endParaRPr lang="en-US" dirty="0"/>
          </a:p>
        </p:txBody>
      </p:sp>
      <p:grpSp>
        <p:nvGrpSpPr>
          <p:cNvPr id="38" name="Group 37">
            <a:extLst>
              <a:ext uri="{FF2B5EF4-FFF2-40B4-BE49-F238E27FC236}">
                <a16:creationId xmlns:a16="http://schemas.microsoft.com/office/drawing/2014/main" id="{E92979E8-2E86-433E-A7E4-5F102E45A8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3887876"/>
            <a:ext cx="867485" cy="115439"/>
            <a:chOff x="8910933" y="1861308"/>
            <a:chExt cx="867485" cy="115439"/>
          </a:xfrm>
        </p:grpSpPr>
        <p:sp>
          <p:nvSpPr>
            <p:cNvPr id="46" name="Rectangle 38">
              <a:extLst>
                <a:ext uri="{FF2B5EF4-FFF2-40B4-BE49-F238E27FC236}">
                  <a16:creationId xmlns:a16="http://schemas.microsoft.com/office/drawing/2014/main" id="{CDDEF0D5-EF9F-43D4-BF40-27A3121E02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47" name="Straight Connector 39">
              <a:extLst>
                <a:ext uri="{FF2B5EF4-FFF2-40B4-BE49-F238E27FC236}">
                  <a16:creationId xmlns:a16="http://schemas.microsoft.com/office/drawing/2014/main" id="{71438B34-2B34-4614-B3B4-D099271503B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C691BDB-93D3-4721-903C-45DD9590F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23075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E7A24-4B00-3940-9CF7-145914700091}"/>
              </a:ext>
            </a:extLst>
          </p:cNvPr>
          <p:cNvSpPr>
            <a:spLocks noGrp="1"/>
          </p:cNvSpPr>
          <p:nvPr>
            <p:ph type="title"/>
          </p:nvPr>
        </p:nvSpPr>
        <p:spPr/>
        <p:txBody>
          <a:bodyPr/>
          <a:lstStyle/>
          <a:p>
            <a:r>
              <a:rPr lang="en-US" dirty="0"/>
              <a:t>Compressed Sensing – Project Overview</a:t>
            </a:r>
          </a:p>
        </p:txBody>
      </p:sp>
      <p:sp>
        <p:nvSpPr>
          <p:cNvPr id="3" name="Content Placeholder 2">
            <a:extLst>
              <a:ext uri="{FF2B5EF4-FFF2-40B4-BE49-F238E27FC236}">
                <a16:creationId xmlns:a16="http://schemas.microsoft.com/office/drawing/2014/main" id="{3EAAF720-E33E-D147-B053-05640F17FB82}"/>
              </a:ext>
            </a:extLst>
          </p:cNvPr>
          <p:cNvSpPr>
            <a:spLocks noGrp="1"/>
          </p:cNvSpPr>
          <p:nvPr>
            <p:ph idx="1"/>
          </p:nvPr>
        </p:nvSpPr>
        <p:spPr/>
        <p:txBody>
          <a:bodyPr>
            <a:normAutofit fontScale="92500" lnSpcReduction="20000"/>
          </a:bodyPr>
          <a:lstStyle/>
          <a:p>
            <a:pPr marL="342900" indent="-342900">
              <a:buFont typeface="Arial" panose="020B0604020202020204" pitchFamily="34" charset="0"/>
              <a:buChar char="•"/>
            </a:pPr>
            <a:r>
              <a:rPr lang="en-US" b="1" dirty="0"/>
              <a:t>Objective:</a:t>
            </a:r>
            <a:r>
              <a:rPr lang="en-US" dirty="0"/>
              <a:t> Estimate the original form of a damaged or compressed image with many missing or bad pixels using a discrete cosine transform (DCT) basis function and a L1 cost function to enforce sparsity</a:t>
            </a:r>
          </a:p>
          <a:p>
            <a:pPr marL="617220" lvl="1" indent="-342900"/>
            <a:r>
              <a:rPr lang="en-US" dirty="0"/>
              <a:t>This is relevant in for low-exposure images and for images with Salt &amp; Pepper noise (astronomy) or with Poisson distributed noise (X-Ray, CT, or mammograms)</a:t>
            </a:r>
          </a:p>
          <a:p>
            <a:pPr marL="617220" lvl="1" indent="-342900"/>
            <a:r>
              <a:rPr lang="en-US" dirty="0"/>
              <a:t>This is also relevant in image compression where a large signal needs to be represented in fewer bytes of storage</a:t>
            </a:r>
          </a:p>
          <a:p>
            <a:pPr marL="342900" indent="-342900">
              <a:buFont typeface="Arial" panose="020B0604020202020204" pitchFamily="34" charset="0"/>
              <a:buChar char="•"/>
            </a:pPr>
            <a:r>
              <a:rPr lang="en-US" b="1" dirty="0"/>
              <a:t>Procedure:</a:t>
            </a:r>
          </a:p>
          <a:p>
            <a:pPr marL="617220" lvl="1" indent="-342900"/>
            <a:r>
              <a:rPr lang="en-US" dirty="0"/>
              <a:t>An image clean image (truth) will be divided into k x k blocks</a:t>
            </a:r>
          </a:p>
          <a:p>
            <a:pPr marL="617220" lvl="1" indent="-342900"/>
            <a:r>
              <a:rPr lang="en-US" dirty="0"/>
              <a:t>A set number of pixels will be randomly damaged (set to have a value of -1) in each block </a:t>
            </a:r>
          </a:p>
          <a:p>
            <a:pPr marL="617220" lvl="1" indent="-342900"/>
            <a:r>
              <a:rPr lang="en-US" dirty="0"/>
              <a:t>Compressed sensing will be implemented by using a lasso regression and DCT bases</a:t>
            </a:r>
          </a:p>
          <a:p>
            <a:pPr marL="617220" lvl="1" indent="-342900"/>
            <a:r>
              <a:rPr lang="en-US" dirty="0"/>
              <a:t>Final image will be median filtered with a 3x3 kernel</a:t>
            </a:r>
          </a:p>
          <a:p>
            <a:pPr marL="617220" lvl="1" indent="-342900"/>
            <a:r>
              <a:rPr lang="en-US" dirty="0"/>
              <a:t>The effects of number of sampled pixels, block size, and median filtering on error will be analyzed</a:t>
            </a:r>
          </a:p>
          <a:p>
            <a:pPr marL="617220" lvl="1" indent="-342900"/>
            <a:endParaRPr lang="en-US" dirty="0"/>
          </a:p>
        </p:txBody>
      </p:sp>
    </p:spTree>
    <p:extLst>
      <p:ext uri="{BB962C8B-B14F-4D97-AF65-F5344CB8AC3E}">
        <p14:creationId xmlns:p14="http://schemas.microsoft.com/office/powerpoint/2010/main" val="1158758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6CC0-1FBC-AA42-9827-98A0C34A8F17}"/>
              </a:ext>
            </a:extLst>
          </p:cNvPr>
          <p:cNvSpPr>
            <a:spLocks noGrp="1"/>
          </p:cNvSpPr>
          <p:nvPr>
            <p:ph type="title"/>
          </p:nvPr>
        </p:nvSpPr>
        <p:spPr/>
        <p:txBody>
          <a:bodyPr/>
          <a:lstStyle/>
          <a:p>
            <a:r>
              <a:rPr lang="en-US" dirty="0"/>
              <a:t>Compressed Sensing - Goals</a:t>
            </a:r>
          </a:p>
        </p:txBody>
      </p:sp>
      <p:sp>
        <p:nvSpPr>
          <p:cNvPr id="3" name="Content Placeholder 2">
            <a:extLst>
              <a:ext uri="{FF2B5EF4-FFF2-40B4-BE49-F238E27FC236}">
                <a16:creationId xmlns:a16="http://schemas.microsoft.com/office/drawing/2014/main" id="{862F064B-3FA3-0F42-B0BF-7532A25CB75F}"/>
              </a:ext>
            </a:extLst>
          </p:cNvPr>
          <p:cNvSpPr>
            <a:spLocks noGrp="1"/>
          </p:cNvSpPr>
          <p:nvPr>
            <p:ph idx="1"/>
          </p:nvPr>
        </p:nvSpPr>
        <p:spPr/>
        <p:txBody>
          <a:bodyPr/>
          <a:lstStyle/>
          <a:p>
            <a:pPr marL="457200" indent="-457200">
              <a:buFont typeface="+mj-lt"/>
              <a:buAutoNum type="arabicPeriod"/>
            </a:pPr>
            <a:r>
              <a:rPr lang="en-US" dirty="0"/>
              <a:t>Recovering missing pixels in the image by utilizing lasso regularization and the 2D discrete cosine transform (DCT) basis function</a:t>
            </a:r>
          </a:p>
          <a:p>
            <a:pPr marL="457200" indent="-457200">
              <a:buFont typeface="+mj-lt"/>
              <a:buAutoNum type="arabicPeriod"/>
            </a:pPr>
            <a:r>
              <a:rPr lang="en-US" dirty="0"/>
              <a:t>Understanding how median filtering affects the quality of the image and the number of samples at which it is no longer beneficial to use a median filter</a:t>
            </a:r>
          </a:p>
          <a:p>
            <a:pPr marL="457200" indent="-457200">
              <a:buFont typeface="+mj-lt"/>
              <a:buAutoNum type="arabicPeriod"/>
            </a:pPr>
            <a:r>
              <a:rPr lang="en-US" dirty="0"/>
              <a:t>Understanding how block size affects the quality of the final image</a:t>
            </a:r>
          </a:p>
          <a:p>
            <a:pPr marL="457200" indent="-457200">
              <a:buFont typeface="+mj-lt"/>
              <a:buAutoNum type="arabicPeriod"/>
            </a:pPr>
            <a:r>
              <a:rPr lang="en-US" dirty="0"/>
              <a:t>Understanding how the number of pixels sampled affect the quality of the final image</a:t>
            </a:r>
          </a:p>
        </p:txBody>
      </p:sp>
    </p:spTree>
    <p:extLst>
      <p:ext uri="{BB962C8B-B14F-4D97-AF65-F5344CB8AC3E}">
        <p14:creationId xmlns:p14="http://schemas.microsoft.com/office/powerpoint/2010/main" val="4053087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E8742-A416-BB43-8D47-41D429CCA77D}"/>
              </a:ext>
            </a:extLst>
          </p:cNvPr>
          <p:cNvSpPr>
            <a:spLocks noGrp="1"/>
          </p:cNvSpPr>
          <p:nvPr>
            <p:ph type="title"/>
          </p:nvPr>
        </p:nvSpPr>
        <p:spPr/>
        <p:txBody>
          <a:bodyPr/>
          <a:lstStyle/>
          <a:p>
            <a:r>
              <a:rPr lang="en-US" dirty="0"/>
              <a:t>Key Results</a:t>
            </a:r>
          </a:p>
        </p:txBody>
      </p:sp>
      <p:sp>
        <p:nvSpPr>
          <p:cNvPr id="3" name="Content Placeholder 2">
            <a:extLst>
              <a:ext uri="{FF2B5EF4-FFF2-40B4-BE49-F238E27FC236}">
                <a16:creationId xmlns:a16="http://schemas.microsoft.com/office/drawing/2014/main" id="{38191300-34E5-8B48-A680-41BDA4DA22F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199458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7">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9">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26" name="Rectangle 10">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12" name="Straight Connector 11">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27" name="Rectangle 14">
            <a:extLst>
              <a:ext uri="{FF2B5EF4-FFF2-40B4-BE49-F238E27FC236}">
                <a16:creationId xmlns:a16="http://schemas.microsoft.com/office/drawing/2014/main" id="{4905C695-F54E-4EF8-8AEF-811D460E7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16">
            <a:extLst>
              <a:ext uri="{FF2B5EF4-FFF2-40B4-BE49-F238E27FC236}">
                <a16:creationId xmlns:a16="http://schemas.microsoft.com/office/drawing/2014/main" id="{485CD2A3-2099-476E-9A85-55DC735FA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700" y="1028700"/>
            <a:ext cx="10134600" cy="48023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B1956D-E74A-8E49-B432-2F6873E075D1}"/>
              </a:ext>
            </a:extLst>
          </p:cNvPr>
          <p:cNvSpPr>
            <a:spLocks noGrp="1"/>
          </p:cNvSpPr>
          <p:nvPr>
            <p:ph type="title"/>
          </p:nvPr>
        </p:nvSpPr>
        <p:spPr>
          <a:xfrm>
            <a:off x="2408583" y="1503007"/>
            <a:ext cx="7374834" cy="1868049"/>
          </a:xfrm>
        </p:spPr>
        <p:txBody>
          <a:bodyPr vert="horz" lIns="91440" tIns="45720" rIns="91440" bIns="45720" rtlCol="0" anchor="b">
            <a:normAutofit/>
          </a:bodyPr>
          <a:lstStyle/>
          <a:p>
            <a:r>
              <a:rPr lang="en-US" sz="2800" kern="1200" cap="all" spc="390" baseline="0" dirty="0">
                <a:solidFill>
                  <a:schemeClr val="tx2"/>
                </a:solidFill>
                <a:latin typeface="+mj-lt"/>
                <a:ea typeface="+mj-ea"/>
                <a:cs typeface="+mj-cs"/>
              </a:rPr>
              <a:t>Mathematical Formulation</a:t>
            </a:r>
          </a:p>
        </p:txBody>
      </p:sp>
      <p:sp>
        <p:nvSpPr>
          <p:cNvPr id="3" name="Text Placeholder 2">
            <a:extLst>
              <a:ext uri="{FF2B5EF4-FFF2-40B4-BE49-F238E27FC236}">
                <a16:creationId xmlns:a16="http://schemas.microsoft.com/office/drawing/2014/main" id="{8D50DA9E-75FE-B646-80F6-61959E7607BA}"/>
              </a:ext>
            </a:extLst>
          </p:cNvPr>
          <p:cNvSpPr>
            <a:spLocks noGrp="1"/>
          </p:cNvSpPr>
          <p:nvPr>
            <p:ph type="body" idx="1"/>
          </p:nvPr>
        </p:nvSpPr>
        <p:spPr>
          <a:xfrm>
            <a:off x="2885661" y="4509051"/>
            <a:ext cx="6420678" cy="978654"/>
          </a:xfrm>
        </p:spPr>
        <p:txBody>
          <a:bodyPr vert="horz" lIns="91440" tIns="45720" rIns="91440" bIns="45720" rtlCol="0" anchor="t">
            <a:normAutofit/>
          </a:bodyPr>
          <a:lstStyle/>
          <a:p>
            <a:pPr>
              <a:lnSpc>
                <a:spcPct val="100000"/>
              </a:lnSpc>
            </a:pPr>
            <a:endParaRPr lang="en-US" dirty="0"/>
          </a:p>
        </p:txBody>
      </p:sp>
      <p:grpSp>
        <p:nvGrpSpPr>
          <p:cNvPr id="29" name="Group 18">
            <a:extLst>
              <a:ext uri="{FF2B5EF4-FFF2-40B4-BE49-F238E27FC236}">
                <a16:creationId xmlns:a16="http://schemas.microsoft.com/office/drawing/2014/main" id="{E92979E8-2E86-433E-A7E4-5F102E45A8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3887876"/>
            <a:ext cx="867485" cy="115439"/>
            <a:chOff x="8910933" y="1861308"/>
            <a:chExt cx="867485" cy="115439"/>
          </a:xfrm>
        </p:grpSpPr>
        <p:sp>
          <p:nvSpPr>
            <p:cNvPr id="30" name="Rectangle 19">
              <a:extLst>
                <a:ext uri="{FF2B5EF4-FFF2-40B4-BE49-F238E27FC236}">
                  <a16:creationId xmlns:a16="http://schemas.microsoft.com/office/drawing/2014/main" id="{CDDEF0D5-EF9F-43D4-BF40-27A3121E02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1" name="Straight Connector 20">
              <a:extLst>
                <a:ext uri="{FF2B5EF4-FFF2-40B4-BE49-F238E27FC236}">
                  <a16:creationId xmlns:a16="http://schemas.microsoft.com/office/drawing/2014/main" id="{71438B34-2B34-4614-B3B4-D099271503B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C691BDB-93D3-4721-903C-45DD9590F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0534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06AAE-D2A5-2E44-A9A9-53EE378361F1}"/>
              </a:ext>
            </a:extLst>
          </p:cNvPr>
          <p:cNvSpPr>
            <a:spLocks noGrp="1"/>
          </p:cNvSpPr>
          <p:nvPr>
            <p:ph type="title"/>
          </p:nvPr>
        </p:nvSpPr>
        <p:spPr/>
        <p:txBody>
          <a:bodyPr/>
          <a:lstStyle/>
          <a:p>
            <a:r>
              <a:rPr lang="en-US" dirty="0"/>
              <a:t>Representation of Signal with DCT Basis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3C51CCE-E92C-2E49-81B1-614F8E0D16F2}"/>
                  </a:ext>
                </a:extLst>
              </p:cNvPr>
              <p:cNvSpPr>
                <a:spLocks noGrp="1"/>
              </p:cNvSpPr>
              <p:nvPr>
                <p:ph idx="1"/>
              </p:nvPr>
            </p:nvSpPr>
            <p:spPr/>
            <p:txBody>
              <a:bodyPr>
                <a:normAutofit fontScale="70000" lnSpcReduction="20000"/>
              </a:bodyPr>
              <a:lstStyle/>
              <a:p>
                <a:r>
                  <a:rPr lang="en-US" dirty="0"/>
                  <a:t>Since a signal can be represented a linear combination of a basis function and an image is a signal, it can also be represented with a basis. </a:t>
                </a:r>
              </a:p>
              <a:p>
                <a:r>
                  <a:rPr lang="en-US" dirty="0"/>
                  <a:t>For this model, the image is represented with a discrete cosine transform (DCT) basis function, shown below.</a:t>
                </a:r>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𝑢</m:t>
                          </m:r>
                          <m:r>
                            <a:rPr lang="en-US" b="0" i="1" smtClean="0">
                              <a:latin typeface="Cambria Math" panose="02040503050406030204" pitchFamily="18" charset="0"/>
                            </a:rPr>
                            <m:t>=1</m:t>
                          </m:r>
                        </m:sub>
                        <m:sup>
                          <m:r>
                            <a:rPr lang="en-US" b="0" i="1" smtClean="0">
                              <a:latin typeface="Cambria Math" panose="02040503050406030204" pitchFamily="18" charset="0"/>
                            </a:rPr>
                            <m:t>𝑘</m:t>
                          </m:r>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𝑣</m:t>
                              </m:r>
                              <m:r>
                                <a:rPr lang="en-US" b="0" i="1" smtClean="0">
                                  <a:latin typeface="Cambria Math" panose="02040503050406030204" pitchFamily="18" charset="0"/>
                                </a:rPr>
                                <m:t>=1</m:t>
                              </m:r>
                            </m:sub>
                            <m:sup>
                              <m:r>
                                <a:rPr lang="en-US" b="0" i="1" smtClean="0">
                                  <a:latin typeface="Cambria Math" panose="02040503050406030204" pitchFamily="18" charset="0"/>
                                </a:rPr>
                                <m:t>𝑘</m:t>
                              </m:r>
                            </m:sup>
                            <m:e>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𝑢</m:t>
                                      </m:r>
                                    </m:sub>
                                  </m:sSub>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𝑣</m:t>
                                      </m:r>
                                    </m:sub>
                                  </m:sSub>
                                  <m:r>
                                    <m:rPr>
                                      <m:sty m:val="p"/>
                                    </m:rPr>
                                    <a:rPr lang="en-US">
                                      <a:latin typeface="Cambria Math" panose="02040503050406030204" pitchFamily="18" charset="0"/>
                                    </a:rPr>
                                    <m:t>cos</m:t>
                                  </m:r>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2</m:t>
                                              </m:r>
                                              <m:r>
                                                <a:rPr lang="en-US" i="1">
                                                  <a:latin typeface="Cambria Math" panose="02040503050406030204" pitchFamily="18" charset="0"/>
                                                </a:rPr>
                                                <m:t>𝑥</m:t>
                                              </m:r>
                                              <m:r>
                                                <a:rPr lang="en-US" i="1">
                                                  <a:latin typeface="Cambria Math" panose="02040503050406030204" pitchFamily="18" charset="0"/>
                                                </a:rPr>
                                                <m:t>−1</m:t>
                                              </m:r>
                                            </m:e>
                                          </m:d>
                                          <m:d>
                                            <m:dPr>
                                              <m:ctrlPr>
                                                <a:rPr lang="en-US" i="1">
                                                  <a:latin typeface="Cambria Math" panose="02040503050406030204" pitchFamily="18" charset="0"/>
                                                </a:rPr>
                                              </m:ctrlPr>
                                            </m:dPr>
                                            <m:e>
                                              <m:r>
                                                <a:rPr lang="en-US" i="1">
                                                  <a:latin typeface="Cambria Math" panose="02040503050406030204" pitchFamily="18" charset="0"/>
                                                </a:rPr>
                                                <m:t>𝑢</m:t>
                                              </m:r>
                                              <m:r>
                                                <a:rPr lang="en-US" i="1">
                                                  <a:latin typeface="Cambria Math" panose="02040503050406030204" pitchFamily="18" charset="0"/>
                                                </a:rPr>
                                                <m:t>−1</m:t>
                                              </m:r>
                                            </m:e>
                                          </m:d>
                                        </m:num>
                                        <m:den>
                                          <m:r>
                                            <a:rPr lang="en-US" i="1">
                                              <a:latin typeface="Cambria Math" panose="02040503050406030204" pitchFamily="18" charset="0"/>
                                            </a:rPr>
                                            <m:t>2</m:t>
                                          </m:r>
                                          <m:r>
                                            <a:rPr lang="en-US" b="0" i="1" smtClean="0">
                                              <a:latin typeface="Cambria Math" panose="02040503050406030204" pitchFamily="18" charset="0"/>
                                            </a:rPr>
                                            <m:t>𝑘</m:t>
                                          </m:r>
                                        </m:den>
                                      </m:f>
                                    </m:e>
                                  </m:d>
                                  <m:r>
                                    <a:rPr lang="en-US" i="1">
                                      <a:latin typeface="Cambria Math" panose="02040503050406030204" pitchFamily="18" charset="0"/>
                                    </a:rPr>
                                    <m:t>𝑐𝑜𝑠</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2</m:t>
                                              </m:r>
                                              <m:r>
                                                <a:rPr lang="en-US" i="1">
                                                  <a:latin typeface="Cambria Math" panose="02040503050406030204" pitchFamily="18" charset="0"/>
                                                </a:rPr>
                                                <m:t>𝑦</m:t>
                                              </m:r>
                                              <m:r>
                                                <a:rPr lang="en-US" i="1">
                                                  <a:latin typeface="Cambria Math" panose="02040503050406030204" pitchFamily="18" charset="0"/>
                                                </a:rPr>
                                                <m:t>−1</m:t>
                                              </m:r>
                                            </m:e>
                                          </m:d>
                                          <m:d>
                                            <m:dPr>
                                              <m:ctrlPr>
                                                <a:rPr lang="en-US" i="1">
                                                  <a:latin typeface="Cambria Math" panose="02040503050406030204" pitchFamily="18" charset="0"/>
                                                </a:rPr>
                                              </m:ctrlPr>
                                            </m:dPr>
                                            <m:e>
                                              <m:r>
                                                <a:rPr lang="en-US" i="1">
                                                  <a:latin typeface="Cambria Math" panose="02040503050406030204" pitchFamily="18" charset="0"/>
                                                </a:rPr>
                                                <m:t>𝑣</m:t>
                                              </m:r>
                                              <m:r>
                                                <a:rPr lang="en-US" i="1">
                                                  <a:latin typeface="Cambria Math" panose="02040503050406030204" pitchFamily="18" charset="0"/>
                                                </a:rPr>
                                                <m:t>−1</m:t>
                                              </m:r>
                                            </m:e>
                                          </m:d>
                                        </m:num>
                                        <m:den>
                                          <m:r>
                                            <a:rPr lang="en-US" i="1">
                                              <a:latin typeface="Cambria Math" panose="02040503050406030204" pitchFamily="18" charset="0"/>
                                            </a:rPr>
                                            <m:t>2</m:t>
                                          </m:r>
                                          <m:r>
                                            <a:rPr lang="en-US" b="0" i="1" smtClean="0">
                                              <a:latin typeface="Cambria Math" panose="02040503050406030204" pitchFamily="18" charset="0"/>
                                            </a:rPr>
                                            <m:t>𝑘</m:t>
                                          </m:r>
                                        </m:den>
                                      </m:f>
                                    </m:e>
                                  </m:d>
                                </m:e>
                              </m:d>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e>
                          </m:nary>
                        </m:e>
                      </m:nary>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𝑢</m:t>
                          </m:r>
                          <m:r>
                            <a:rPr lang="en-US" b="0" i="1" smtClean="0">
                              <a:latin typeface="Cambria Math" panose="02040503050406030204" pitchFamily="18" charset="0"/>
                            </a:rPr>
                            <m:t> </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𝑣</m:t>
                          </m:r>
                        </m:sub>
                      </m:sSub>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𝑘</m:t>
                                      </m:r>
                                    </m:den>
                                  </m:f>
                                </m:e>
                              </m:rad>
                              <m:r>
                                <a:rPr lang="en-US" b="0" i="1" smtClean="0">
                                  <a:latin typeface="Cambria Math" panose="02040503050406030204" pitchFamily="18" charset="0"/>
                                </a:rPr>
                                <m:t> (</m:t>
                              </m:r>
                              <m:r>
                                <a:rPr lang="en-US" b="0" i="1" smtClean="0">
                                  <a:latin typeface="Cambria Math" panose="02040503050406030204" pitchFamily="18" charset="0"/>
                                </a:rPr>
                                <m:t>𝑢</m:t>
                              </m:r>
                              <m:r>
                                <a:rPr lang="en-US" b="0" i="1" smtClean="0">
                                  <a:latin typeface="Cambria Math" panose="02040503050406030204" pitchFamily="18" charset="0"/>
                                </a:rPr>
                                <m:t>=1 </m:t>
                              </m:r>
                              <m:r>
                                <a:rPr lang="en-US" b="0" i="1" smtClean="0">
                                  <a:latin typeface="Cambria Math" panose="02040503050406030204" pitchFamily="18" charset="0"/>
                                </a:rPr>
                                <m:t>𝑜𝑟</m:t>
                              </m:r>
                              <m:r>
                                <a:rPr lang="en-US" b="0" i="1" smtClean="0">
                                  <a:latin typeface="Cambria Math" panose="02040503050406030204" pitchFamily="18" charset="0"/>
                                </a:rPr>
                                <m:t> </m:t>
                              </m:r>
                              <m:r>
                                <a:rPr lang="en-US" b="0" i="1" smtClean="0">
                                  <a:latin typeface="Cambria Math" panose="02040503050406030204" pitchFamily="18" charset="0"/>
                                </a:rPr>
                                <m:t>𝑣</m:t>
                              </m:r>
                              <m:r>
                                <a:rPr lang="en-US" b="0" i="1" smtClean="0">
                                  <a:latin typeface="Cambria Math" panose="02040503050406030204" pitchFamily="18" charset="0"/>
                                </a:rPr>
                                <m:t>=1)</m:t>
                              </m:r>
                            </m:e>
                            <m:e>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2</m:t>
                                      </m:r>
                                      <m:r>
                                        <a:rPr lang="en-US" b="0" i="1" smtClean="0">
                                          <a:latin typeface="Cambria Math" panose="02040503050406030204" pitchFamily="18" charset="0"/>
                                        </a:rPr>
                                        <m:t>𝑘</m:t>
                                      </m:r>
                                    </m:den>
                                  </m:f>
                                </m:e>
                              </m:rad>
                              <m:r>
                                <a:rPr lang="en-US" b="0" i="1" smtClean="0">
                                  <a:latin typeface="Cambria Math" panose="02040503050406030204" pitchFamily="18" charset="0"/>
                                </a:rPr>
                                <m:t> (2≤</m:t>
                              </m:r>
                              <m:r>
                                <a:rPr lang="en-US" b="0" i="1" smtClean="0">
                                  <a:latin typeface="Cambria Math" panose="02040503050406030204" pitchFamily="18" charset="0"/>
                                </a:rPr>
                                <m:t>𝑢</m:t>
                              </m:r>
                              <m:r>
                                <a:rPr lang="en-US" b="0" i="1" smtClean="0">
                                  <a:latin typeface="Cambria Math" panose="02040503050406030204" pitchFamily="18" charset="0"/>
                                </a:rPr>
                                <m:t>, </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e>
                            <m:e>
                              <m:r>
                                <a:rPr lang="en-US" b="0" i="1" smtClean="0">
                                  <a:latin typeface="Cambria Math" panose="02040503050406030204" pitchFamily="18" charset="0"/>
                                </a:rPr>
                                <m:t> </m:t>
                              </m:r>
                            </m:e>
                          </m:eqArr>
                        </m:e>
                      </m:d>
                    </m:oMath>
                  </m:oMathPara>
                </a14:m>
                <a:endParaRPr lang="en-US" dirty="0"/>
              </a:p>
              <a:p>
                <a:r>
                  <a:rPr lang="en-US" dirty="0"/>
                  <a:t>To prevent a blurring of the image and very large inverse matrix multiplications, the image is split into k x k sized blocks. </a:t>
                </a:r>
              </a:p>
              <a:p>
                <a:r>
                  <a:rPr lang="en-US" dirty="0"/>
                  <a:t>Here g(</a:t>
                </a:r>
                <a:r>
                  <a:rPr lang="en-US" dirty="0" err="1"/>
                  <a:t>x,y</a:t>
                </a:r>
                <a:r>
                  <a:rPr lang="en-US" dirty="0"/>
                  <a:t>) is the image, G(</a:t>
                </a:r>
                <a:r>
                  <a:rPr lang="en-US" dirty="0" err="1"/>
                  <a:t>u,v</a:t>
                </a:r>
                <a:r>
                  <a:rPr lang="en-US" dirty="0"/>
                  <a:t>) is the DCT representation of the image, and the term in square brackets represents the transformation. </a:t>
                </a:r>
              </a:p>
              <a:p>
                <a:r>
                  <a:rPr lang="en-US" dirty="0"/>
                  <a:t>To implement this in code, the g(</a:t>
                </a:r>
                <a:r>
                  <a:rPr lang="en-US" dirty="0" err="1"/>
                  <a:t>x,y</a:t>
                </a:r>
                <a:r>
                  <a:rPr lang="en-US" dirty="0"/>
                  <a:t>) and G(</a:t>
                </a:r>
                <a:r>
                  <a:rPr lang="en-US" dirty="0" err="1"/>
                  <a:t>u,v</a:t>
                </a:r>
                <a:r>
                  <a:rPr lang="en-US" dirty="0"/>
                  <a:t>) were linearized from a 2D array to a 1D vector. </a:t>
                </a:r>
              </a:p>
              <a:p>
                <a:r>
                  <a:rPr lang="en-US" dirty="0"/>
                  <a:t>The equations can then be written as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𝛾</m:t>
                    </m:r>
                  </m:oMath>
                </a14:m>
                <a:r>
                  <a:rPr lang="en-US" dirty="0"/>
                  <a:t> where C is a linearized vector of all pixels [k</a:t>
                </a:r>
                <a:r>
                  <a:rPr lang="en-US" baseline="30000" dirty="0"/>
                  <a:t>2</a:t>
                </a:r>
                <a:r>
                  <a:rPr lang="en-US" dirty="0"/>
                  <a:t> x 1], T is a transformation matrix with the DCT bases [k</a:t>
                </a:r>
                <a:r>
                  <a:rPr lang="en-US" baseline="30000" dirty="0"/>
                  <a:t>2</a:t>
                </a:r>
                <a:r>
                  <a:rPr lang="en-US" dirty="0"/>
                  <a:t> x k</a:t>
                </a:r>
                <a:r>
                  <a:rPr lang="en-US" baseline="30000" dirty="0"/>
                  <a:t>2</a:t>
                </a:r>
                <a:r>
                  <a:rPr lang="en-US" dirty="0"/>
                  <a:t>], and </a:t>
                </a:r>
                <a14:m>
                  <m:oMath xmlns:m="http://schemas.openxmlformats.org/officeDocument/2006/math">
                    <m:r>
                      <a:rPr lang="en-US" i="1" dirty="0" smtClean="0">
                        <a:latin typeface="Cambria Math" panose="02040503050406030204" pitchFamily="18" charset="0"/>
                        <a:ea typeface="Cambria Math" panose="02040503050406030204" pitchFamily="18" charset="0"/>
                      </a:rPr>
                      <m:t>𝛾</m:t>
                    </m:r>
                  </m:oMath>
                </a14:m>
                <a:r>
                  <a:rPr lang="en-US" dirty="0"/>
                  <a:t> is a linearized vector of DCT coefficients [k</a:t>
                </a:r>
                <a:r>
                  <a:rPr lang="en-US" baseline="30000" dirty="0"/>
                  <a:t>2</a:t>
                </a:r>
                <a:r>
                  <a:rPr lang="en-US" dirty="0"/>
                  <a:t> x 1].</a:t>
                </a:r>
              </a:p>
            </p:txBody>
          </p:sp>
        </mc:Choice>
        <mc:Fallback>
          <p:sp>
            <p:nvSpPr>
              <p:cNvPr id="3" name="Content Placeholder 2">
                <a:extLst>
                  <a:ext uri="{FF2B5EF4-FFF2-40B4-BE49-F238E27FC236}">
                    <a16:creationId xmlns:a16="http://schemas.microsoft.com/office/drawing/2014/main" id="{E3C51CCE-E92C-2E49-81B1-614F8E0D16F2}"/>
                  </a:ext>
                </a:extLst>
              </p:cNvPr>
              <p:cNvSpPr>
                <a:spLocks noGrp="1" noRot="1" noChangeAspect="1" noMove="1" noResize="1" noEditPoints="1" noAdjustHandles="1" noChangeArrowheads="1" noChangeShapeType="1" noTextEdit="1"/>
              </p:cNvSpPr>
              <p:nvPr>
                <p:ph idx="1"/>
              </p:nvPr>
            </p:nvSpPr>
            <p:spPr>
              <a:blipFill>
                <a:blip r:embed="rId2"/>
                <a:stretch>
                  <a:fillRect l="-251" t="-639"/>
                </a:stretch>
              </a:blipFill>
            </p:spPr>
            <p:txBody>
              <a:bodyPr/>
              <a:lstStyle/>
              <a:p>
                <a:r>
                  <a:rPr lang="en-US">
                    <a:noFill/>
                  </a:rPr>
                  <a:t> </a:t>
                </a:r>
              </a:p>
            </p:txBody>
          </p:sp>
        </mc:Fallback>
      </mc:AlternateContent>
    </p:spTree>
    <p:extLst>
      <p:ext uri="{BB962C8B-B14F-4D97-AF65-F5344CB8AC3E}">
        <p14:creationId xmlns:p14="http://schemas.microsoft.com/office/powerpoint/2010/main" val="3133642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873FA-3B94-9746-8771-8E80380A9261}"/>
              </a:ext>
            </a:extLst>
          </p:cNvPr>
          <p:cNvSpPr>
            <a:spLocks noGrp="1"/>
          </p:cNvSpPr>
          <p:nvPr>
            <p:ph type="title"/>
          </p:nvPr>
        </p:nvSpPr>
        <p:spPr/>
        <p:txBody>
          <a:bodyPr/>
          <a:lstStyle/>
          <a:p>
            <a:r>
              <a:rPr lang="en-US" dirty="0"/>
              <a:t>Generating an Undetermined System by Sampling and </a:t>
            </a:r>
            <a:br>
              <a:rPr lang="en-US" dirty="0"/>
            </a:br>
            <a:r>
              <a:rPr lang="en-US" dirty="0"/>
              <a:t>How to Recover It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76BD40B-36EA-3C4E-A9BE-4C8C0362EBF2}"/>
                  </a:ext>
                </a:extLst>
              </p:cNvPr>
              <p:cNvSpPr>
                <a:spLocks noGrp="1"/>
              </p:cNvSpPr>
              <p:nvPr>
                <p:ph idx="1"/>
              </p:nvPr>
            </p:nvSpPr>
            <p:spPr/>
            <p:txBody>
              <a:bodyPr>
                <a:normAutofit/>
              </a:bodyPr>
              <a:lstStyle/>
              <a:p>
                <a:r>
                  <a:rPr lang="en-US" dirty="0"/>
                  <a:t>When an image is missing pixels, the system becomes underdetermined. For every pixel that is missing, a row is removed from the C matrix and the corresponding row is removed from the T matrix. However, the length of the </a:t>
                </a:r>
                <a14:m>
                  <m:oMath xmlns:m="http://schemas.openxmlformats.org/officeDocument/2006/math">
                    <m:r>
                      <m:rPr>
                        <m:sty m:val="p"/>
                      </m:rPr>
                      <a:rPr lang="en-US" b="0" i="1" smtClean="0">
                        <a:latin typeface="Cambria Math" panose="02040503050406030204" pitchFamily="18" charset="0"/>
                      </a:rPr>
                      <m:t>γ</m:t>
                    </m:r>
                  </m:oMath>
                </a14:m>
                <a:r>
                  <a:rPr lang="en-US" b="0" dirty="0"/>
                  <a:t> matrix will stay the same length. The sampled C and T matrices will be referred to as B and A, respectively. The system with B and A </a:t>
                </a:r>
                <a:r>
                  <a:rPr lang="en-US" dirty="0"/>
                  <a:t>will be referred to as the underdetermined system.</a:t>
                </a:r>
                <a:endParaRPr lang="en-US" b="0" dirty="0"/>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𝛾</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𝑆𝑎𝑚𝑝𝑙𝑖𝑛𝑔</m:t>
                          </m:r>
                        </m:e>
                      </m:d>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𝐴</m:t>
                      </m:r>
                      <m:r>
                        <m:rPr>
                          <m:sty m:val="p"/>
                        </m:rPr>
                        <a:rPr lang="en-US" b="0" i="1" smtClean="0">
                          <a:latin typeface="Cambria Math" panose="02040503050406030204" pitchFamily="18" charset="0"/>
                        </a:rPr>
                        <m:t>γ</m:t>
                      </m:r>
                      <m:r>
                        <a:rPr lang="en-US" b="0" i="1" smtClean="0">
                          <a:latin typeface="Cambria Math" panose="02040503050406030204" pitchFamily="18" charset="0"/>
                        </a:rPr>
                        <m:t> </m:t>
                      </m:r>
                    </m:oMath>
                  </m:oMathPara>
                </a14:m>
                <a:endParaRPr lang="en-US" b="0" dirty="0"/>
              </a:p>
              <a:p>
                <a:r>
                  <a:rPr lang="en-US" dirty="0"/>
                  <a:t>Since the </a:t>
                </a:r>
                <a14:m>
                  <m:oMath xmlns:m="http://schemas.openxmlformats.org/officeDocument/2006/math">
                    <m:r>
                      <a:rPr lang="en-US" b="0" i="1" smtClean="0">
                        <a:latin typeface="Cambria Math" panose="02040503050406030204" pitchFamily="18" charset="0"/>
                      </a:rPr>
                      <m:t>𝛾</m:t>
                    </m:r>
                  </m:oMath>
                </a14:m>
                <a:r>
                  <a:rPr lang="en-US" b="0" dirty="0"/>
                  <a:t> matrix stays the same length and T is known, C can be recovered using </a:t>
                </a:r>
                <a:r>
                  <a:rPr lang="en-US" dirty="0"/>
                  <a:t>the underdetermined system to estimate the values for </a:t>
                </a:r>
                <a14:m>
                  <m:oMath xmlns:m="http://schemas.openxmlformats.org/officeDocument/2006/math">
                    <m:r>
                      <a:rPr lang="en-US" i="1">
                        <a:latin typeface="Cambria Math" panose="02040503050406030204" pitchFamily="18" charset="0"/>
                      </a:rPr>
                      <m:t>𝛾</m:t>
                    </m:r>
                  </m:oMath>
                </a14:m>
                <a:r>
                  <a:rPr lang="en-US" b="0" dirty="0"/>
                  <a:t>.</a:t>
                </a:r>
              </a:p>
            </p:txBody>
          </p:sp>
        </mc:Choice>
        <mc:Fallback>
          <p:sp>
            <p:nvSpPr>
              <p:cNvPr id="3" name="Content Placeholder 2">
                <a:extLst>
                  <a:ext uri="{FF2B5EF4-FFF2-40B4-BE49-F238E27FC236}">
                    <a16:creationId xmlns:a16="http://schemas.microsoft.com/office/drawing/2014/main" id="{876BD40B-36EA-3C4E-A9BE-4C8C0362EBF2}"/>
                  </a:ext>
                </a:extLst>
              </p:cNvPr>
              <p:cNvSpPr>
                <a:spLocks noGrp="1" noRot="1" noChangeAspect="1" noMove="1" noResize="1" noEditPoints="1" noAdjustHandles="1" noChangeArrowheads="1" noChangeShapeType="1" noTextEdit="1"/>
              </p:cNvSpPr>
              <p:nvPr>
                <p:ph idx="1"/>
              </p:nvPr>
            </p:nvSpPr>
            <p:spPr>
              <a:blipFill>
                <a:blip r:embed="rId2"/>
                <a:stretch>
                  <a:fillRect l="-752" t="-639" r="-251"/>
                </a:stretch>
              </a:blipFill>
            </p:spPr>
            <p:txBody>
              <a:bodyPr/>
              <a:lstStyle/>
              <a:p>
                <a:r>
                  <a:rPr lang="en-US">
                    <a:noFill/>
                  </a:rPr>
                  <a:t> </a:t>
                </a:r>
              </a:p>
            </p:txBody>
          </p:sp>
        </mc:Fallback>
      </mc:AlternateContent>
    </p:spTree>
    <p:extLst>
      <p:ext uri="{BB962C8B-B14F-4D97-AF65-F5344CB8AC3E}">
        <p14:creationId xmlns:p14="http://schemas.microsoft.com/office/powerpoint/2010/main" val="1735575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411F4-5C83-0542-9048-0429600F31B9}"/>
              </a:ext>
            </a:extLst>
          </p:cNvPr>
          <p:cNvSpPr>
            <a:spLocks noGrp="1"/>
          </p:cNvSpPr>
          <p:nvPr>
            <p:ph type="title"/>
          </p:nvPr>
        </p:nvSpPr>
        <p:spPr/>
        <p:txBody>
          <a:bodyPr/>
          <a:lstStyle/>
          <a:p>
            <a:r>
              <a:rPr lang="en-US" dirty="0"/>
              <a:t>Sparsity Constraint and Lasso Regularization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05D5E24-0F4C-024F-AE98-E84DC5C06E52}"/>
                  </a:ext>
                </a:extLst>
              </p:cNvPr>
              <p:cNvSpPr>
                <a:spLocks noGrp="1"/>
              </p:cNvSpPr>
              <p:nvPr>
                <p:ph idx="1"/>
              </p:nvPr>
            </p:nvSpPr>
            <p:spPr/>
            <p:txBody>
              <a:bodyPr>
                <a:normAutofit fontScale="85000" lnSpcReduction="20000"/>
              </a:bodyPr>
              <a:lstStyle/>
              <a:p>
                <a:r>
                  <a:rPr lang="en-US" dirty="0"/>
                  <a:t>Because the system is underdetermined and the number of equations is less than the number of unknowns, the system will have either no solutions or an infinitely many number of solutions. As a result, </a:t>
                </a:r>
                <a:r>
                  <a:rPr lang="en-US" b="1" dirty="0"/>
                  <a:t>sparsity needs to be imposed</a:t>
                </a:r>
                <a:r>
                  <a:rPr lang="en-US" dirty="0"/>
                  <a:t>. Imposing a sparsity constraint means that some values of </a:t>
                </a:r>
                <a14:m>
                  <m:oMath xmlns:m="http://schemas.openxmlformats.org/officeDocument/2006/math">
                    <m:r>
                      <a:rPr lang="en-US" b="0" i="1" smtClean="0">
                        <a:latin typeface="Cambria Math" panose="02040503050406030204" pitchFamily="18" charset="0"/>
                      </a:rPr>
                      <m:t>𝛾</m:t>
                    </m:r>
                    <m:r>
                      <a:rPr lang="en-US" b="0" i="1" smtClean="0">
                        <a:latin typeface="Cambria Math" panose="02040503050406030204" pitchFamily="18" charset="0"/>
                      </a:rPr>
                      <m:t> </m:t>
                    </m:r>
                  </m:oMath>
                </a14:m>
                <a:r>
                  <a:rPr lang="en-US" dirty="0"/>
                  <a:t>will have to be 0 for there to to be a solution to the linear system. Natural images are sparse by nature so imposing a sparsity constraint can still recover high quality images. </a:t>
                </a:r>
              </a:p>
              <a:p>
                <a:r>
                  <a:rPr lang="en-US" dirty="0"/>
                  <a:t>Sparsity can, ideally, be achieved by regularizing using a L</a:t>
                </a:r>
                <a:r>
                  <a:rPr lang="en-US" baseline="-25000" dirty="0"/>
                  <a:t>0</a:t>
                </a:r>
                <a:r>
                  <a:rPr lang="en-US" dirty="0"/>
                  <a:t> norm (i.e. best subset selection). The L</a:t>
                </a:r>
                <a:r>
                  <a:rPr lang="en-US" baseline="-25000" dirty="0"/>
                  <a:t>0</a:t>
                </a:r>
                <a:r>
                  <a:rPr lang="en-US" dirty="0"/>
                  <a:t> norm counts the number of non-zero values in </a:t>
                </a:r>
                <a14:m>
                  <m:oMath xmlns:m="http://schemas.openxmlformats.org/officeDocument/2006/math">
                    <m:r>
                      <a:rPr lang="en-US" i="1">
                        <a:latin typeface="Cambria Math" panose="02040503050406030204" pitchFamily="18" charset="0"/>
                      </a:rPr>
                      <m:t>𝛾</m:t>
                    </m:r>
                  </m:oMath>
                </a14:m>
                <a:r>
                  <a:rPr lang="en-US" dirty="0"/>
                  <a:t> and penalizes them. However, a cost function with a L</a:t>
                </a:r>
                <a:r>
                  <a:rPr lang="en-US" baseline="-25000" dirty="0"/>
                  <a:t>0</a:t>
                </a:r>
                <a:r>
                  <a:rPr lang="en-US" dirty="0"/>
                  <a:t> norm can be more difficult to minimize, and an L</a:t>
                </a:r>
                <a:r>
                  <a:rPr lang="en-US" baseline="-25000" dirty="0"/>
                  <a:t>1</a:t>
                </a:r>
                <a:r>
                  <a:rPr lang="en-US" dirty="0"/>
                  <a:t> norm works just as well to impose spasity</a:t>
                </a:r>
                <a:r>
                  <a:rPr lang="en-US" baseline="30000" dirty="0"/>
                  <a:t>1</a:t>
                </a:r>
                <a:r>
                  <a:rPr lang="en-US" dirty="0"/>
                  <a:t>. For this project, a L</a:t>
                </a:r>
                <a:r>
                  <a:rPr lang="en-US" baseline="-25000" dirty="0"/>
                  <a:t>1</a:t>
                </a:r>
                <a:r>
                  <a:rPr lang="en-US" dirty="0"/>
                  <a:t> norm will be used. Using a L</a:t>
                </a:r>
                <a:r>
                  <a:rPr lang="en-US" baseline="-25000" dirty="0"/>
                  <a:t>1</a:t>
                </a:r>
                <a:r>
                  <a:rPr lang="en-US" dirty="0"/>
                  <a:t> norm to regularize a least squares solution to a linear system is called lasso regularization</a:t>
                </a:r>
                <a:r>
                  <a:rPr lang="en-US" baseline="30000" dirty="0"/>
                  <a:t>2</a:t>
                </a:r>
                <a:r>
                  <a:rPr lang="en-US" dirty="0"/>
                  <a:t> and is implemented using Matlab</a:t>
                </a:r>
                <a:r>
                  <a:rPr lang="en-US" baseline="30000" dirty="0"/>
                  <a:t>3</a:t>
                </a:r>
                <a:r>
                  <a:rPr lang="en-US" dirty="0"/>
                  <a:t>. The cost function is shown below.</a:t>
                </a:r>
              </a:p>
              <a:p>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𝑚𝑖𝑛</m:t>
                              </m:r>
                            </m:e>
                            <m:sub>
                              <m:r>
                                <a:rPr lang="en-US" b="0" i="1" smtClean="0">
                                  <a:latin typeface="Cambria Math" panose="02040503050406030204" pitchFamily="18" charset="0"/>
                                </a:rPr>
                                <m:t>𝛾</m:t>
                              </m:r>
                            </m:sub>
                          </m:sSub>
                          <m:r>
                            <a:rPr lang="en-US" b="0" i="1" smtClean="0">
                              <a:latin typeface="Cambria Math" panose="02040503050406030204" pitchFamily="18" charset="0"/>
                            </a:rPr>
                            <m:t>(</m:t>
                          </m:r>
                          <m:r>
                            <a:rPr lang="en-US" i="1">
                              <a:latin typeface="Cambria Math" panose="02040503050406030204" pitchFamily="18" charset="0"/>
                            </a:rPr>
                            <m:t>|</m:t>
                          </m:r>
                          <m:d>
                            <m:dPr>
                              <m:begChr m:val="|"/>
                              <m:endChr m:val="|"/>
                              <m:ctrlPr>
                                <a:rPr lang="en-US" b="1" i="1">
                                  <a:latin typeface="Cambria Math" panose="02040503050406030204" pitchFamily="18" charset="0"/>
                                </a:rPr>
                              </m:ctrlPr>
                            </m:dPr>
                            <m:e>
                              <m:r>
                                <a:rPr lang="en-US" b="1" i="1">
                                  <a:latin typeface="Cambria Math" panose="02040503050406030204" pitchFamily="18" charset="0"/>
                                </a:rPr>
                                <m:t>𝑨</m:t>
                              </m:r>
                              <m:r>
                                <a:rPr lang="en-US" b="0" i="1">
                                  <a:latin typeface="Cambria Math" panose="02040503050406030204" pitchFamily="18" charset="0"/>
                                </a:rPr>
                                <m:t>𝛾</m:t>
                              </m:r>
                              <m:r>
                                <a:rPr lang="en-US" b="1" i="1">
                                  <a:latin typeface="Cambria Math" panose="02040503050406030204" pitchFamily="18" charset="0"/>
                                </a:rPr>
                                <m:t>−</m:t>
                              </m:r>
                              <m:r>
                                <a:rPr lang="en-US" b="1" i="1">
                                  <a:latin typeface="Cambria Math" panose="02040503050406030204" pitchFamily="18" charset="0"/>
                                </a:rPr>
                                <m:t>𝑩</m:t>
                              </m:r>
                            </m:e>
                          </m:d>
                          <m:r>
                            <a:rPr lang="en-US" i="1">
                              <a:latin typeface="Cambria Math" panose="02040503050406030204" pitchFamily="18" charset="0"/>
                            </a:rPr>
                            <m:t>|</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𝜆</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𝛾</m:t>
                              </m:r>
                            </m:e>
                          </m:d>
                          <m:r>
                            <a:rPr lang="en-US" b="0" i="1" smtClean="0">
                              <a:latin typeface="Cambria Math" panose="02040503050406030204" pitchFamily="18" charset="0"/>
                            </a:rPr>
                            <m:t>|</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US" dirty="0"/>
              </a:p>
              <a:p>
                <a:r>
                  <a:rPr lang="en-US" dirty="0"/>
                  <a:t>A </a:t>
                </a:r>
                <a:r>
                  <a:rPr lang="en-US" b="1" dirty="0"/>
                  <a:t>L</a:t>
                </a:r>
                <a:r>
                  <a:rPr lang="en-US" b="1" baseline="-25000" dirty="0"/>
                  <a:t>2</a:t>
                </a:r>
                <a:r>
                  <a:rPr lang="en-US" b="1" dirty="0"/>
                  <a:t> regularization </a:t>
                </a:r>
                <a:r>
                  <a:rPr lang="en-US" dirty="0"/>
                  <a:t>would penalize higher values more than lower values more because the squared term makes larger coefficients incur a greater penalty. Using a </a:t>
                </a:r>
                <a:r>
                  <a:rPr lang="en-US" b="1" dirty="0"/>
                  <a:t>L</a:t>
                </a:r>
                <a:r>
                  <a:rPr lang="en-US" b="1" baseline="-25000" dirty="0"/>
                  <a:t>1 </a:t>
                </a:r>
                <a:r>
                  <a:rPr lang="en-US" b="1" dirty="0"/>
                  <a:t>norm will more evenly penalize all values, not just large coefficients.</a:t>
                </a:r>
              </a:p>
            </p:txBody>
          </p:sp>
        </mc:Choice>
        <mc:Fallback>
          <p:sp>
            <p:nvSpPr>
              <p:cNvPr id="3" name="Content Placeholder 2">
                <a:extLst>
                  <a:ext uri="{FF2B5EF4-FFF2-40B4-BE49-F238E27FC236}">
                    <a16:creationId xmlns:a16="http://schemas.microsoft.com/office/drawing/2014/main" id="{D05D5E24-0F4C-024F-AE98-E84DC5C06E52}"/>
                  </a:ext>
                </a:extLst>
              </p:cNvPr>
              <p:cNvSpPr>
                <a:spLocks noGrp="1" noRot="1" noChangeAspect="1" noMove="1" noResize="1" noEditPoints="1" noAdjustHandles="1" noChangeArrowheads="1" noChangeShapeType="1" noTextEdit="1"/>
              </p:cNvSpPr>
              <p:nvPr>
                <p:ph idx="1"/>
              </p:nvPr>
            </p:nvSpPr>
            <p:spPr>
              <a:blipFill>
                <a:blip r:embed="rId2"/>
                <a:stretch>
                  <a:fillRect l="-501" t="-1278" r="-501"/>
                </a:stretch>
              </a:blipFill>
            </p:spPr>
            <p:txBody>
              <a:bodyPr/>
              <a:lstStyle/>
              <a:p>
                <a:r>
                  <a:rPr lang="en-US">
                    <a:noFill/>
                  </a:rPr>
                  <a:t> </a:t>
                </a:r>
              </a:p>
            </p:txBody>
          </p:sp>
        </mc:Fallback>
      </mc:AlternateContent>
    </p:spTree>
    <p:extLst>
      <p:ext uri="{BB962C8B-B14F-4D97-AF65-F5344CB8AC3E}">
        <p14:creationId xmlns:p14="http://schemas.microsoft.com/office/powerpoint/2010/main" val="2000427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4871-FB15-1845-BAFD-25675A412531}"/>
              </a:ext>
            </a:extLst>
          </p:cNvPr>
          <p:cNvSpPr>
            <a:spLocks noGrp="1"/>
          </p:cNvSpPr>
          <p:nvPr>
            <p:ph type="title"/>
          </p:nvPr>
        </p:nvSpPr>
        <p:spPr/>
        <p:txBody>
          <a:bodyPr/>
          <a:lstStyle/>
          <a:p>
            <a:r>
              <a:rPr lang="en-US" dirty="0"/>
              <a:t>Cross-Validation to Find Lambda Parameters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17BB25C-3B06-6844-AA84-7790F1E853B2}"/>
                  </a:ext>
                </a:extLst>
              </p:cNvPr>
              <p:cNvSpPr>
                <a:spLocks noGrp="1"/>
              </p:cNvSpPr>
              <p:nvPr>
                <p:ph idx="1"/>
              </p:nvPr>
            </p:nvSpPr>
            <p:spPr/>
            <p:txBody>
              <a:bodyPr/>
              <a:lstStyle/>
              <a:p>
                <a:r>
                  <a:rPr lang="en-US" dirty="0"/>
                  <a:t>Cross validation can be used to determine a value of </a:t>
                </a:r>
                <a14:m>
                  <m:oMath xmlns:m="http://schemas.openxmlformats.org/officeDocument/2006/math">
                    <m:r>
                      <a:rPr lang="en-US" b="0" i="1" smtClean="0">
                        <a:latin typeface="Cambria Math" panose="02040503050406030204" pitchFamily="18" charset="0"/>
                      </a:rPr>
                      <m:t>𝜆</m:t>
                    </m:r>
                  </m:oMath>
                </a14:m>
                <a:r>
                  <a:rPr lang="en-US" dirty="0"/>
                  <a:t> that minimizes mean squared error (MSE) for each individual block in the image.</a:t>
                </a:r>
              </a:p>
              <a:p>
                <a:pPr marL="342900" indent="-342900">
                  <a:buFont typeface="Arial" panose="020B0604020202020204" pitchFamily="34" charset="0"/>
                  <a:buChar char="•"/>
                </a:pPr>
                <a:r>
                  <a:rPr lang="en-US" dirty="0"/>
                  <a:t>For this project, cross validation was completed using random subset cross-validation.</a:t>
                </a:r>
              </a:p>
              <a:p>
                <a:pPr marL="617220" lvl="1" indent="-342900"/>
                <a:r>
                  <a:rPr lang="en-US" dirty="0"/>
                  <a:t>Number of Pixels in Testing Subset = m = floor(sampled pixels/6)</a:t>
                </a:r>
              </a:p>
              <a:p>
                <a:pPr marL="617220" lvl="1" indent="-342900"/>
                <a:r>
                  <a:rPr lang="en-US" dirty="0"/>
                  <a:t>Number of Pixels in Training Subset = sampled pixels – m</a:t>
                </a:r>
              </a:p>
              <a:p>
                <a:pPr marL="617220" lvl="1" indent="-342900"/>
                <a:r>
                  <a:rPr lang="en-US" dirty="0"/>
                  <a:t>Cross validation was run 20 times for each block</a:t>
                </a:r>
              </a:p>
            </p:txBody>
          </p:sp>
        </mc:Choice>
        <mc:Fallback>
          <p:sp>
            <p:nvSpPr>
              <p:cNvPr id="3" name="Content Placeholder 2">
                <a:extLst>
                  <a:ext uri="{FF2B5EF4-FFF2-40B4-BE49-F238E27FC236}">
                    <a16:creationId xmlns:a16="http://schemas.microsoft.com/office/drawing/2014/main" id="{917BB25C-3B06-6844-AA84-7790F1E853B2}"/>
                  </a:ext>
                </a:extLst>
              </p:cNvPr>
              <p:cNvSpPr>
                <a:spLocks noGrp="1" noRot="1" noChangeAspect="1" noMove="1" noResize="1" noEditPoints="1" noAdjustHandles="1" noChangeArrowheads="1" noChangeShapeType="1" noTextEdit="1"/>
              </p:cNvSpPr>
              <p:nvPr>
                <p:ph idx="1"/>
              </p:nvPr>
            </p:nvSpPr>
            <p:spPr>
              <a:blipFill>
                <a:blip r:embed="rId2"/>
                <a:stretch>
                  <a:fillRect l="-752" t="-639"/>
                </a:stretch>
              </a:blipFill>
            </p:spPr>
            <p:txBody>
              <a:bodyPr/>
              <a:lstStyle/>
              <a:p>
                <a:r>
                  <a:rPr lang="en-US">
                    <a:noFill/>
                  </a:rPr>
                  <a:t> </a:t>
                </a:r>
              </a:p>
            </p:txBody>
          </p:sp>
        </mc:Fallback>
      </mc:AlternateContent>
    </p:spTree>
    <p:extLst>
      <p:ext uri="{BB962C8B-B14F-4D97-AF65-F5344CB8AC3E}">
        <p14:creationId xmlns:p14="http://schemas.microsoft.com/office/powerpoint/2010/main" val="878470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33BF7-82CB-B64B-B343-61F770190E85}"/>
              </a:ext>
            </a:extLst>
          </p:cNvPr>
          <p:cNvSpPr>
            <a:spLocks noGrp="1"/>
          </p:cNvSpPr>
          <p:nvPr>
            <p:ph type="title"/>
          </p:nvPr>
        </p:nvSpPr>
        <p:spPr/>
        <p:txBody>
          <a:bodyPr/>
          <a:lstStyle/>
          <a:p>
            <a:r>
              <a:rPr lang="en-US" dirty="0"/>
              <a:t>Median Filtering</a:t>
            </a:r>
          </a:p>
        </p:txBody>
      </p:sp>
      <p:sp>
        <p:nvSpPr>
          <p:cNvPr id="3" name="Content Placeholder 2">
            <a:extLst>
              <a:ext uri="{FF2B5EF4-FFF2-40B4-BE49-F238E27FC236}">
                <a16:creationId xmlns:a16="http://schemas.microsoft.com/office/drawing/2014/main" id="{9015A367-750F-E046-A045-362AF0D96D8E}"/>
              </a:ext>
            </a:extLst>
          </p:cNvPr>
          <p:cNvSpPr>
            <a:spLocks noGrp="1"/>
          </p:cNvSpPr>
          <p:nvPr>
            <p:ph idx="1"/>
          </p:nvPr>
        </p:nvSpPr>
        <p:spPr/>
        <p:txBody>
          <a:bodyPr>
            <a:normAutofit/>
          </a:bodyPr>
          <a:lstStyle/>
          <a:p>
            <a:pPr marL="342900" indent="-342900">
              <a:buFont typeface="Arial" panose="020B0604020202020204" pitchFamily="34" charset="0"/>
              <a:buChar char="•"/>
            </a:pPr>
            <a:r>
              <a:rPr lang="en-US" dirty="0"/>
              <a:t>Median filtering with a 3x3 kernel sets each pixel equal to the median value of the 3x3 neighborhood it is in.</a:t>
            </a:r>
          </a:p>
          <a:p>
            <a:pPr marL="617220" lvl="1" indent="-342900"/>
            <a:r>
              <a:rPr lang="en-US" dirty="0"/>
              <a:t>High pass filtering is not appropriate because it would only preserve the edges of the image and not the low frequency signal that dominates natural images.</a:t>
            </a:r>
          </a:p>
          <a:p>
            <a:pPr marL="342900" indent="-342900">
              <a:buFont typeface="Arial" panose="020B0604020202020204" pitchFamily="34" charset="0"/>
              <a:buChar char="•"/>
            </a:pPr>
            <a:r>
              <a:rPr lang="en-US" dirty="0"/>
              <a:t>Median filtering </a:t>
            </a:r>
            <a:r>
              <a:rPr lang="en-US" b="1" dirty="0"/>
              <a:t>smooths</a:t>
            </a:r>
            <a:r>
              <a:rPr lang="en-US" dirty="0"/>
              <a:t> out the image and eliminate salt &amp; pepper noise in the image. </a:t>
            </a:r>
          </a:p>
          <a:p>
            <a:pPr marL="617220" lvl="1" indent="-342900"/>
            <a:r>
              <a:rPr lang="en-US" dirty="0"/>
              <a:t>However, if a median filter is applied to an image that is already sharp, it will just </a:t>
            </a:r>
            <a:r>
              <a:rPr lang="en-US" b="1" dirty="0"/>
              <a:t>blur</a:t>
            </a:r>
            <a:r>
              <a:rPr lang="en-US" dirty="0"/>
              <a:t> the image and </a:t>
            </a:r>
            <a:r>
              <a:rPr lang="en-US" b="1" dirty="0"/>
              <a:t>distort</a:t>
            </a:r>
            <a:r>
              <a:rPr lang="en-US" dirty="0"/>
              <a:t> the detail.</a:t>
            </a:r>
          </a:p>
          <a:p>
            <a:pPr marL="617220" lvl="1" indent="-342900"/>
            <a:r>
              <a:rPr lang="en-US" dirty="0"/>
              <a:t>With very low sampling rates, median filtering may improve the quality of the image but there will be a point when the image is </a:t>
            </a:r>
            <a:r>
              <a:rPr lang="en-US" b="1" dirty="0"/>
              <a:t>sampled sufficiently, </a:t>
            </a:r>
            <a:r>
              <a:rPr lang="en-US" dirty="0"/>
              <a:t>and a median filter will </a:t>
            </a:r>
            <a:r>
              <a:rPr lang="en-US" b="1" dirty="0"/>
              <a:t>decrease performance </a:t>
            </a:r>
            <a:r>
              <a:rPr lang="en-US" dirty="0"/>
              <a:t>and over smooth the image. The fidelity of a median filter will be further explored in this experiment.</a:t>
            </a:r>
          </a:p>
          <a:p>
            <a:pPr marL="342900" indent="-342900">
              <a:buFont typeface="Arial" panose="020B0604020202020204" pitchFamily="34" charset="0"/>
              <a:buChar char="•"/>
            </a:pPr>
            <a:r>
              <a:rPr lang="en-US" dirty="0"/>
              <a:t>The function medfilt2 was used in </a:t>
            </a:r>
            <a:r>
              <a:rPr lang="en-US" dirty="0" err="1"/>
              <a:t>Matlab</a:t>
            </a:r>
            <a:r>
              <a:rPr lang="en-US" dirty="0"/>
              <a:t> to implement 3x3 median filtering</a:t>
            </a:r>
            <a:r>
              <a:rPr lang="en-US" baseline="30000" dirty="0"/>
              <a:t>4</a:t>
            </a:r>
            <a:r>
              <a:rPr lang="en-US" dirty="0"/>
              <a:t>.</a:t>
            </a:r>
          </a:p>
        </p:txBody>
      </p:sp>
    </p:spTree>
    <p:extLst>
      <p:ext uri="{BB962C8B-B14F-4D97-AF65-F5344CB8AC3E}">
        <p14:creationId xmlns:p14="http://schemas.microsoft.com/office/powerpoint/2010/main" val="3064854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C2C8-5A80-C54B-A7F9-CB472A255EE6}"/>
              </a:ext>
            </a:extLst>
          </p:cNvPr>
          <p:cNvSpPr>
            <a:spLocks noGrp="1"/>
          </p:cNvSpPr>
          <p:nvPr>
            <p:ph type="title"/>
          </p:nvPr>
        </p:nvSpPr>
        <p:spPr/>
        <p:txBody>
          <a:bodyPr/>
          <a:lstStyle/>
          <a:p>
            <a:r>
              <a:rPr lang="en-US" dirty="0"/>
              <a:t>Median over Gaussian?</a:t>
            </a:r>
          </a:p>
        </p:txBody>
      </p:sp>
      <p:sp>
        <p:nvSpPr>
          <p:cNvPr id="3" name="Content Placeholder 2">
            <a:extLst>
              <a:ext uri="{FF2B5EF4-FFF2-40B4-BE49-F238E27FC236}">
                <a16:creationId xmlns:a16="http://schemas.microsoft.com/office/drawing/2014/main" id="{8D0292A3-080C-2A49-AD2C-EACC9A6A0AAB}"/>
              </a:ext>
            </a:extLst>
          </p:cNvPr>
          <p:cNvSpPr>
            <a:spLocks noGrp="1"/>
          </p:cNvSpPr>
          <p:nvPr>
            <p:ph idx="1"/>
          </p:nvPr>
        </p:nvSpPr>
        <p:spPr/>
        <p:txBody>
          <a:bodyPr/>
          <a:lstStyle/>
          <a:p>
            <a:r>
              <a:rPr lang="en-US" b="1" dirty="0"/>
              <a:t>It’s because of the type of noise we have</a:t>
            </a:r>
          </a:p>
          <a:p>
            <a:pPr marL="342900" indent="-342900">
              <a:buFont typeface="Arial" panose="020B0604020202020204" pitchFamily="34" charset="0"/>
              <a:buChar char="•"/>
            </a:pPr>
            <a:r>
              <a:rPr lang="en-US" dirty="0"/>
              <a:t>Since pixels in the images for compressed sensing are removed completely instead of having their value altered based on a statistical distribution, the “noise” in the image resembles pepper noise so a median filter is more appropriate than a Gaussian.</a:t>
            </a:r>
          </a:p>
          <a:p>
            <a:pPr marL="342900" indent="-342900">
              <a:buFont typeface="Arial" panose="020B0604020202020204" pitchFamily="34" charset="0"/>
              <a:buChar char="•"/>
            </a:pPr>
            <a:r>
              <a:rPr lang="en-US" dirty="0"/>
              <a:t>Median filtering also typically produces results that are sharper than some other linear filtering methods.</a:t>
            </a:r>
          </a:p>
          <a:p>
            <a:pPr marL="342900" indent="-342900">
              <a:buFont typeface="Arial" panose="020B0604020202020204" pitchFamily="34" charset="0"/>
              <a:buChar char="•"/>
            </a:pPr>
            <a:r>
              <a:rPr lang="en-US" dirty="0"/>
              <a:t>Figure 1 on the next slide shows an example of how median filtering impacts the image without introducing too much blur.</a:t>
            </a:r>
          </a:p>
          <a:p>
            <a:endParaRPr lang="en-US" dirty="0"/>
          </a:p>
        </p:txBody>
      </p:sp>
    </p:spTree>
    <p:extLst>
      <p:ext uri="{BB962C8B-B14F-4D97-AF65-F5344CB8AC3E}">
        <p14:creationId xmlns:p14="http://schemas.microsoft.com/office/powerpoint/2010/main" val="3228367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3939A-5DC0-D046-A547-94593E957245}"/>
              </a:ext>
            </a:extLst>
          </p:cNvPr>
          <p:cNvSpPr>
            <a:spLocks noGrp="1"/>
          </p:cNvSpPr>
          <p:nvPr>
            <p:ph type="title"/>
          </p:nvPr>
        </p:nvSpPr>
        <p:spPr/>
        <p:txBody>
          <a:bodyPr/>
          <a:lstStyle/>
          <a:p>
            <a:r>
              <a:rPr lang="en-US" dirty="0"/>
              <a:t>Median over Gaussian? (cont.)</a:t>
            </a:r>
          </a:p>
        </p:txBody>
      </p:sp>
      <p:sp>
        <p:nvSpPr>
          <p:cNvPr id="3" name="Content Placeholder 2">
            <a:extLst>
              <a:ext uri="{FF2B5EF4-FFF2-40B4-BE49-F238E27FC236}">
                <a16:creationId xmlns:a16="http://schemas.microsoft.com/office/drawing/2014/main" id="{D6FCAA69-C097-C241-AB2E-11605A47507D}"/>
              </a:ext>
            </a:extLst>
          </p:cNvPr>
          <p:cNvSpPr>
            <a:spLocks noGrp="1"/>
          </p:cNvSpPr>
          <p:nvPr>
            <p:ph idx="1"/>
          </p:nvPr>
        </p:nvSpPr>
        <p:spPr/>
        <p:txBody>
          <a:bodyPr/>
          <a:lstStyle/>
          <a:p>
            <a:r>
              <a:rPr lang="en-US" b="1" dirty="0"/>
              <a:t>Figure 1: </a:t>
            </a:r>
            <a:r>
              <a:rPr lang="en-US" dirty="0"/>
              <a:t>Cameraman image denoising with Gaussian and median filters. Notice that the median filtered image removes the salt &amp; pepper noise while preserving the sharpness of the image. The Gaussian preserves much of the noise and adds blur so it is less favorable.</a:t>
            </a:r>
          </a:p>
        </p:txBody>
      </p:sp>
      <p:pic>
        <p:nvPicPr>
          <p:cNvPr id="4" name="Picture 3" descr="A person holding a camera&#10;&#10;Description automatically generated with low confidence">
            <a:extLst>
              <a:ext uri="{FF2B5EF4-FFF2-40B4-BE49-F238E27FC236}">
                <a16:creationId xmlns:a16="http://schemas.microsoft.com/office/drawing/2014/main" id="{23FD9688-7D5E-044A-9D30-787F34B43ADE}"/>
              </a:ext>
            </a:extLst>
          </p:cNvPr>
          <p:cNvPicPr>
            <a:picLocks noChangeAspect="1"/>
          </p:cNvPicPr>
          <p:nvPr/>
        </p:nvPicPr>
        <p:blipFill rotWithShape="1">
          <a:blip r:embed="rId3"/>
          <a:srcRect l="16062" r="15285" b="13303"/>
          <a:stretch/>
        </p:blipFill>
        <p:spPr>
          <a:xfrm>
            <a:off x="3742529" y="3559729"/>
            <a:ext cx="2405309" cy="2573226"/>
          </a:xfrm>
          <a:prstGeom prst="rect">
            <a:avLst/>
          </a:prstGeom>
        </p:spPr>
      </p:pic>
      <p:pic>
        <p:nvPicPr>
          <p:cNvPr id="6" name="Picture 5" descr="A person using a camera&#10;&#10;Description automatically generated with low confidence">
            <a:extLst>
              <a:ext uri="{FF2B5EF4-FFF2-40B4-BE49-F238E27FC236}">
                <a16:creationId xmlns:a16="http://schemas.microsoft.com/office/drawing/2014/main" id="{CD2DD6BC-EA18-124E-8F85-2D84AF392AC3}"/>
              </a:ext>
            </a:extLst>
          </p:cNvPr>
          <p:cNvPicPr>
            <a:picLocks noChangeAspect="1"/>
          </p:cNvPicPr>
          <p:nvPr/>
        </p:nvPicPr>
        <p:blipFill rotWithShape="1">
          <a:blip r:embed="rId4"/>
          <a:srcRect l="15642" r="15446" b="13493"/>
          <a:stretch/>
        </p:blipFill>
        <p:spPr>
          <a:xfrm>
            <a:off x="6161128" y="3497977"/>
            <a:ext cx="2476153" cy="2633268"/>
          </a:xfrm>
          <a:prstGeom prst="rect">
            <a:avLst/>
          </a:prstGeom>
        </p:spPr>
      </p:pic>
      <p:pic>
        <p:nvPicPr>
          <p:cNvPr id="7" name="Picture 6" descr="A picture containing text, person, tripod&#10;&#10;Description automatically generated">
            <a:extLst>
              <a:ext uri="{FF2B5EF4-FFF2-40B4-BE49-F238E27FC236}">
                <a16:creationId xmlns:a16="http://schemas.microsoft.com/office/drawing/2014/main" id="{5AD1040E-9F00-0B42-9219-6ABCB3D9D2EE}"/>
              </a:ext>
            </a:extLst>
          </p:cNvPr>
          <p:cNvPicPr>
            <a:picLocks noChangeAspect="1"/>
          </p:cNvPicPr>
          <p:nvPr/>
        </p:nvPicPr>
        <p:blipFill rotWithShape="1">
          <a:blip r:embed="rId5"/>
          <a:srcRect l="15259" r="14331" b="11165"/>
          <a:stretch/>
        </p:blipFill>
        <p:spPr>
          <a:xfrm>
            <a:off x="1190576" y="3483429"/>
            <a:ext cx="2550300" cy="2725826"/>
          </a:xfrm>
          <a:prstGeom prst="rect">
            <a:avLst/>
          </a:prstGeom>
        </p:spPr>
      </p:pic>
      <p:pic>
        <p:nvPicPr>
          <p:cNvPr id="9" name="Picture 8" descr="A picture containing text, outdoor, person, tripod&#10;&#10;Description automatically generated">
            <a:extLst>
              <a:ext uri="{FF2B5EF4-FFF2-40B4-BE49-F238E27FC236}">
                <a16:creationId xmlns:a16="http://schemas.microsoft.com/office/drawing/2014/main" id="{593C51EA-5505-DE4F-A90A-B79535F6497A}"/>
              </a:ext>
            </a:extLst>
          </p:cNvPr>
          <p:cNvPicPr>
            <a:picLocks noChangeAspect="1"/>
          </p:cNvPicPr>
          <p:nvPr/>
        </p:nvPicPr>
        <p:blipFill rotWithShape="1">
          <a:blip r:embed="rId6"/>
          <a:srcRect l="16062" r="16062" b="13303"/>
          <a:stretch/>
        </p:blipFill>
        <p:spPr>
          <a:xfrm>
            <a:off x="8662214" y="3474936"/>
            <a:ext cx="2476153" cy="2679349"/>
          </a:xfrm>
          <a:prstGeom prst="rect">
            <a:avLst/>
          </a:prstGeom>
        </p:spPr>
      </p:pic>
    </p:spTree>
    <p:extLst>
      <p:ext uri="{BB962C8B-B14F-4D97-AF65-F5344CB8AC3E}">
        <p14:creationId xmlns:p14="http://schemas.microsoft.com/office/powerpoint/2010/main" val="2690656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11" name="Rectangle 10">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12" name="Straight Connector 11">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15" name="Rectangle 14">
            <a:extLst>
              <a:ext uri="{FF2B5EF4-FFF2-40B4-BE49-F238E27FC236}">
                <a16:creationId xmlns:a16="http://schemas.microsoft.com/office/drawing/2014/main" id="{4905C695-F54E-4EF8-8AEF-811D460E7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5CD2A3-2099-476E-9A85-55DC735FA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700" y="1028700"/>
            <a:ext cx="10134600" cy="48023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B1956D-E74A-8E49-B432-2F6873E075D1}"/>
              </a:ext>
            </a:extLst>
          </p:cNvPr>
          <p:cNvSpPr>
            <a:spLocks noGrp="1"/>
          </p:cNvSpPr>
          <p:nvPr>
            <p:ph type="title"/>
          </p:nvPr>
        </p:nvSpPr>
        <p:spPr>
          <a:xfrm>
            <a:off x="2408583" y="1503007"/>
            <a:ext cx="7374834" cy="1868049"/>
          </a:xfrm>
        </p:spPr>
        <p:txBody>
          <a:bodyPr vert="horz" lIns="91440" tIns="45720" rIns="91440" bIns="45720" rtlCol="0" anchor="b">
            <a:normAutofit/>
          </a:bodyPr>
          <a:lstStyle/>
          <a:p>
            <a:r>
              <a:rPr lang="en-US" sz="2800" kern="1200" cap="all" spc="390" baseline="0" dirty="0">
                <a:solidFill>
                  <a:schemeClr val="tx2"/>
                </a:solidFill>
                <a:latin typeface="+mj-lt"/>
                <a:ea typeface="+mj-ea"/>
                <a:cs typeface="+mj-cs"/>
              </a:rPr>
              <a:t>Experimental Results</a:t>
            </a:r>
          </a:p>
        </p:txBody>
      </p:sp>
      <p:sp>
        <p:nvSpPr>
          <p:cNvPr id="3" name="Text Placeholder 2">
            <a:extLst>
              <a:ext uri="{FF2B5EF4-FFF2-40B4-BE49-F238E27FC236}">
                <a16:creationId xmlns:a16="http://schemas.microsoft.com/office/drawing/2014/main" id="{8D50DA9E-75FE-B646-80F6-61959E7607BA}"/>
              </a:ext>
            </a:extLst>
          </p:cNvPr>
          <p:cNvSpPr>
            <a:spLocks noGrp="1"/>
          </p:cNvSpPr>
          <p:nvPr>
            <p:ph type="body" idx="1"/>
          </p:nvPr>
        </p:nvSpPr>
        <p:spPr>
          <a:xfrm>
            <a:off x="2885661" y="4509051"/>
            <a:ext cx="6420678" cy="978654"/>
          </a:xfrm>
        </p:spPr>
        <p:txBody>
          <a:bodyPr vert="horz" lIns="91440" tIns="45720" rIns="91440" bIns="45720" rtlCol="0" anchor="t">
            <a:normAutofit/>
          </a:bodyPr>
          <a:lstStyle/>
          <a:p>
            <a:pPr>
              <a:lnSpc>
                <a:spcPct val="100000"/>
              </a:lnSpc>
            </a:pPr>
            <a:endParaRPr lang="en-US" dirty="0"/>
          </a:p>
        </p:txBody>
      </p:sp>
      <p:grpSp>
        <p:nvGrpSpPr>
          <p:cNvPr id="19" name="Group 18">
            <a:extLst>
              <a:ext uri="{FF2B5EF4-FFF2-40B4-BE49-F238E27FC236}">
                <a16:creationId xmlns:a16="http://schemas.microsoft.com/office/drawing/2014/main" id="{E92979E8-2E86-433E-A7E4-5F102E45A8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3887876"/>
            <a:ext cx="867485" cy="115439"/>
            <a:chOff x="8910933" y="1861308"/>
            <a:chExt cx="867485" cy="115439"/>
          </a:xfrm>
        </p:grpSpPr>
        <p:sp>
          <p:nvSpPr>
            <p:cNvPr id="20" name="Rectangle 19">
              <a:extLst>
                <a:ext uri="{FF2B5EF4-FFF2-40B4-BE49-F238E27FC236}">
                  <a16:creationId xmlns:a16="http://schemas.microsoft.com/office/drawing/2014/main" id="{CDDEF0D5-EF9F-43D4-BF40-27A3121E02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1" name="Straight Connector 20">
              <a:extLst>
                <a:ext uri="{FF2B5EF4-FFF2-40B4-BE49-F238E27FC236}">
                  <a16:creationId xmlns:a16="http://schemas.microsoft.com/office/drawing/2014/main" id="{71438B34-2B34-4614-B3B4-D099271503B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C691BDB-93D3-4721-903C-45DD9590F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767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19945-47F9-BB4E-9DC8-854995E6961E}"/>
              </a:ext>
            </a:extLst>
          </p:cNvPr>
          <p:cNvSpPr>
            <a:spLocks noGrp="1"/>
          </p:cNvSpPr>
          <p:nvPr>
            <p:ph type="title"/>
          </p:nvPr>
        </p:nvSpPr>
        <p:spPr/>
        <p:txBody>
          <a:bodyPr/>
          <a:lstStyle/>
          <a:p>
            <a:r>
              <a:rPr lang="en-US" dirty="0"/>
              <a:t>Fishing Boat (Small Test Image) – without Median Filter</a:t>
            </a:r>
          </a:p>
        </p:txBody>
      </p:sp>
      <p:pic>
        <p:nvPicPr>
          <p:cNvPr id="5" name="Content Placeholder 4" descr="A picture containing text, boat, outdoor, sky&#10;&#10;Description automatically generated">
            <a:extLst>
              <a:ext uri="{FF2B5EF4-FFF2-40B4-BE49-F238E27FC236}">
                <a16:creationId xmlns:a16="http://schemas.microsoft.com/office/drawing/2014/main" id="{953CDE2B-CF8C-2B49-BBC6-17191A2428FD}"/>
              </a:ext>
            </a:extLst>
          </p:cNvPr>
          <p:cNvPicPr>
            <a:picLocks noGrp="1" noChangeAspect="1"/>
          </p:cNvPicPr>
          <p:nvPr>
            <p:ph idx="1"/>
          </p:nvPr>
        </p:nvPicPr>
        <p:blipFill>
          <a:blip r:embed="rId2"/>
          <a:stretch>
            <a:fillRect/>
          </a:stretch>
        </p:blipFill>
        <p:spPr>
          <a:xfrm>
            <a:off x="1028700" y="2012389"/>
            <a:ext cx="2194560" cy="2286000"/>
          </a:xfrm>
        </p:spPr>
      </p:pic>
      <p:pic>
        <p:nvPicPr>
          <p:cNvPr id="7" name="Picture 6" descr="A picture containing boat, watercraft, transport, black&#10;&#10;Description automatically generated">
            <a:extLst>
              <a:ext uri="{FF2B5EF4-FFF2-40B4-BE49-F238E27FC236}">
                <a16:creationId xmlns:a16="http://schemas.microsoft.com/office/drawing/2014/main" id="{6D9BBEE4-05F7-314D-9E8D-722CDB7870B2}"/>
              </a:ext>
            </a:extLst>
          </p:cNvPr>
          <p:cNvPicPr>
            <a:picLocks noChangeAspect="1"/>
          </p:cNvPicPr>
          <p:nvPr/>
        </p:nvPicPr>
        <p:blipFill>
          <a:blip r:embed="rId3"/>
          <a:stretch>
            <a:fillRect/>
          </a:stretch>
        </p:blipFill>
        <p:spPr>
          <a:xfrm>
            <a:off x="3239490" y="2012389"/>
            <a:ext cx="2194560" cy="2286000"/>
          </a:xfrm>
          <a:prstGeom prst="rect">
            <a:avLst/>
          </a:prstGeom>
        </p:spPr>
      </p:pic>
      <p:pic>
        <p:nvPicPr>
          <p:cNvPr id="9" name="Picture 8" descr="A picture containing boat, outdoor, water, ship&#10;&#10;Description automatically generated">
            <a:extLst>
              <a:ext uri="{FF2B5EF4-FFF2-40B4-BE49-F238E27FC236}">
                <a16:creationId xmlns:a16="http://schemas.microsoft.com/office/drawing/2014/main" id="{8CC5ECEB-19F9-3841-BAD2-98459B65411B}"/>
              </a:ext>
            </a:extLst>
          </p:cNvPr>
          <p:cNvPicPr>
            <a:picLocks noChangeAspect="1"/>
          </p:cNvPicPr>
          <p:nvPr/>
        </p:nvPicPr>
        <p:blipFill>
          <a:blip r:embed="rId4"/>
          <a:stretch>
            <a:fillRect/>
          </a:stretch>
        </p:blipFill>
        <p:spPr>
          <a:xfrm>
            <a:off x="5450280" y="2012389"/>
            <a:ext cx="2194560" cy="2286000"/>
          </a:xfrm>
          <a:prstGeom prst="rect">
            <a:avLst/>
          </a:prstGeom>
        </p:spPr>
      </p:pic>
      <p:pic>
        <p:nvPicPr>
          <p:cNvPr id="11" name="Picture 10" descr="A picture containing boat, outdoor, sky, water&#10;&#10;Description automatically generated">
            <a:extLst>
              <a:ext uri="{FF2B5EF4-FFF2-40B4-BE49-F238E27FC236}">
                <a16:creationId xmlns:a16="http://schemas.microsoft.com/office/drawing/2014/main" id="{C4225392-D5C6-1548-B8E1-B7AAFEDBD55F}"/>
              </a:ext>
            </a:extLst>
          </p:cNvPr>
          <p:cNvPicPr>
            <a:picLocks noChangeAspect="1"/>
          </p:cNvPicPr>
          <p:nvPr/>
        </p:nvPicPr>
        <p:blipFill>
          <a:blip r:embed="rId5"/>
          <a:stretch>
            <a:fillRect/>
          </a:stretch>
        </p:blipFill>
        <p:spPr>
          <a:xfrm>
            <a:off x="1028700" y="4298389"/>
            <a:ext cx="2194560" cy="2286000"/>
          </a:xfrm>
          <a:prstGeom prst="rect">
            <a:avLst/>
          </a:prstGeom>
        </p:spPr>
      </p:pic>
      <p:pic>
        <p:nvPicPr>
          <p:cNvPr id="13" name="Picture 12" descr="A picture containing boat, outdoor, sky, water&#10;&#10;Description automatically generated">
            <a:extLst>
              <a:ext uri="{FF2B5EF4-FFF2-40B4-BE49-F238E27FC236}">
                <a16:creationId xmlns:a16="http://schemas.microsoft.com/office/drawing/2014/main" id="{BA61B2D6-54B7-2F44-AB45-3110AB48F14A}"/>
              </a:ext>
            </a:extLst>
          </p:cNvPr>
          <p:cNvPicPr>
            <a:picLocks noChangeAspect="1"/>
          </p:cNvPicPr>
          <p:nvPr/>
        </p:nvPicPr>
        <p:blipFill>
          <a:blip r:embed="rId6"/>
          <a:stretch>
            <a:fillRect/>
          </a:stretch>
        </p:blipFill>
        <p:spPr>
          <a:xfrm>
            <a:off x="3239490" y="4298389"/>
            <a:ext cx="2194560" cy="2286000"/>
          </a:xfrm>
          <a:prstGeom prst="rect">
            <a:avLst/>
          </a:prstGeom>
        </p:spPr>
      </p:pic>
      <p:pic>
        <p:nvPicPr>
          <p:cNvPr id="15" name="Picture 14" descr="A picture containing boat, outdoor, sky, ship&#10;&#10;Description automatically generated">
            <a:extLst>
              <a:ext uri="{FF2B5EF4-FFF2-40B4-BE49-F238E27FC236}">
                <a16:creationId xmlns:a16="http://schemas.microsoft.com/office/drawing/2014/main" id="{F1F74E57-1FBF-D04F-8273-0C199D8E358E}"/>
              </a:ext>
            </a:extLst>
          </p:cNvPr>
          <p:cNvPicPr>
            <a:picLocks noChangeAspect="1"/>
          </p:cNvPicPr>
          <p:nvPr/>
        </p:nvPicPr>
        <p:blipFill>
          <a:blip r:embed="rId7"/>
          <a:stretch>
            <a:fillRect/>
          </a:stretch>
        </p:blipFill>
        <p:spPr>
          <a:xfrm>
            <a:off x="5450280" y="4298389"/>
            <a:ext cx="2194560" cy="2286000"/>
          </a:xfrm>
          <a:prstGeom prst="rect">
            <a:avLst/>
          </a:prstGeom>
        </p:spPr>
      </p:pic>
      <p:sp>
        <p:nvSpPr>
          <p:cNvPr id="16" name="TextBox 15">
            <a:extLst>
              <a:ext uri="{FF2B5EF4-FFF2-40B4-BE49-F238E27FC236}">
                <a16:creationId xmlns:a16="http://schemas.microsoft.com/office/drawing/2014/main" id="{4C7B3ACC-AF77-BB4B-9A0C-BC1742D6D2FB}"/>
              </a:ext>
            </a:extLst>
          </p:cNvPr>
          <p:cNvSpPr txBox="1"/>
          <p:nvPr/>
        </p:nvSpPr>
        <p:spPr>
          <a:xfrm>
            <a:off x="5462551" y="4298389"/>
            <a:ext cx="439387" cy="369332"/>
          </a:xfrm>
          <a:prstGeom prst="rect">
            <a:avLst/>
          </a:prstGeom>
          <a:noFill/>
        </p:spPr>
        <p:txBody>
          <a:bodyPr wrap="square" rtlCol="0">
            <a:spAutoFit/>
          </a:bodyPr>
          <a:lstStyle/>
          <a:p>
            <a:r>
              <a:rPr lang="en-US" dirty="0"/>
              <a:t>f</a:t>
            </a:r>
          </a:p>
        </p:txBody>
      </p:sp>
      <p:sp>
        <p:nvSpPr>
          <p:cNvPr id="17" name="TextBox 16">
            <a:extLst>
              <a:ext uri="{FF2B5EF4-FFF2-40B4-BE49-F238E27FC236}">
                <a16:creationId xmlns:a16="http://schemas.microsoft.com/office/drawing/2014/main" id="{9FE97D4A-AE6F-8A4A-A908-0A5D7BA455C3}"/>
              </a:ext>
            </a:extLst>
          </p:cNvPr>
          <p:cNvSpPr txBox="1"/>
          <p:nvPr/>
        </p:nvSpPr>
        <p:spPr>
          <a:xfrm>
            <a:off x="3239490" y="4241024"/>
            <a:ext cx="439387" cy="369332"/>
          </a:xfrm>
          <a:prstGeom prst="rect">
            <a:avLst/>
          </a:prstGeom>
          <a:noFill/>
        </p:spPr>
        <p:txBody>
          <a:bodyPr wrap="square" rtlCol="0">
            <a:spAutoFit/>
          </a:bodyPr>
          <a:lstStyle/>
          <a:p>
            <a:r>
              <a:rPr lang="en-US" dirty="0"/>
              <a:t>e</a:t>
            </a:r>
          </a:p>
        </p:txBody>
      </p:sp>
      <p:sp>
        <p:nvSpPr>
          <p:cNvPr id="18" name="TextBox 17">
            <a:extLst>
              <a:ext uri="{FF2B5EF4-FFF2-40B4-BE49-F238E27FC236}">
                <a16:creationId xmlns:a16="http://schemas.microsoft.com/office/drawing/2014/main" id="{B4235363-9E58-8249-ADB8-D7AEF56EAE2F}"/>
              </a:ext>
            </a:extLst>
          </p:cNvPr>
          <p:cNvSpPr txBox="1"/>
          <p:nvPr/>
        </p:nvSpPr>
        <p:spPr>
          <a:xfrm>
            <a:off x="1029095" y="4241024"/>
            <a:ext cx="439387" cy="369332"/>
          </a:xfrm>
          <a:prstGeom prst="rect">
            <a:avLst/>
          </a:prstGeom>
          <a:noFill/>
        </p:spPr>
        <p:txBody>
          <a:bodyPr wrap="square" rtlCol="0">
            <a:spAutoFit/>
          </a:bodyPr>
          <a:lstStyle/>
          <a:p>
            <a:r>
              <a:rPr lang="en-US" dirty="0"/>
              <a:t>d</a:t>
            </a:r>
          </a:p>
        </p:txBody>
      </p:sp>
      <p:sp>
        <p:nvSpPr>
          <p:cNvPr id="19" name="TextBox 18">
            <a:extLst>
              <a:ext uri="{FF2B5EF4-FFF2-40B4-BE49-F238E27FC236}">
                <a16:creationId xmlns:a16="http://schemas.microsoft.com/office/drawing/2014/main" id="{6487D20A-0D59-5442-8397-4B64903E9C69}"/>
              </a:ext>
            </a:extLst>
          </p:cNvPr>
          <p:cNvSpPr txBox="1"/>
          <p:nvPr/>
        </p:nvSpPr>
        <p:spPr>
          <a:xfrm>
            <a:off x="5462551" y="1946118"/>
            <a:ext cx="439387" cy="369332"/>
          </a:xfrm>
          <a:prstGeom prst="rect">
            <a:avLst/>
          </a:prstGeom>
          <a:noFill/>
        </p:spPr>
        <p:txBody>
          <a:bodyPr wrap="square" rtlCol="0">
            <a:spAutoFit/>
          </a:bodyPr>
          <a:lstStyle/>
          <a:p>
            <a:r>
              <a:rPr lang="en-US" dirty="0"/>
              <a:t>c</a:t>
            </a:r>
          </a:p>
        </p:txBody>
      </p:sp>
      <p:sp>
        <p:nvSpPr>
          <p:cNvPr id="20" name="TextBox 19">
            <a:extLst>
              <a:ext uri="{FF2B5EF4-FFF2-40B4-BE49-F238E27FC236}">
                <a16:creationId xmlns:a16="http://schemas.microsoft.com/office/drawing/2014/main" id="{C6C8A3C9-33DB-AC4C-92FE-BC5FB521AAEC}"/>
              </a:ext>
            </a:extLst>
          </p:cNvPr>
          <p:cNvSpPr txBox="1"/>
          <p:nvPr/>
        </p:nvSpPr>
        <p:spPr>
          <a:xfrm>
            <a:off x="3239490" y="1946118"/>
            <a:ext cx="439387" cy="369332"/>
          </a:xfrm>
          <a:prstGeom prst="rect">
            <a:avLst/>
          </a:prstGeom>
          <a:noFill/>
        </p:spPr>
        <p:txBody>
          <a:bodyPr wrap="square" rtlCol="0">
            <a:spAutoFit/>
          </a:bodyPr>
          <a:lstStyle/>
          <a:p>
            <a:r>
              <a:rPr lang="en-US" dirty="0"/>
              <a:t>b</a:t>
            </a:r>
          </a:p>
        </p:txBody>
      </p:sp>
      <p:sp>
        <p:nvSpPr>
          <p:cNvPr id="21" name="TextBox 20">
            <a:extLst>
              <a:ext uri="{FF2B5EF4-FFF2-40B4-BE49-F238E27FC236}">
                <a16:creationId xmlns:a16="http://schemas.microsoft.com/office/drawing/2014/main" id="{47076B93-0BD9-E948-9E7B-4FB561F6BE04}"/>
              </a:ext>
            </a:extLst>
          </p:cNvPr>
          <p:cNvSpPr txBox="1"/>
          <p:nvPr/>
        </p:nvSpPr>
        <p:spPr>
          <a:xfrm>
            <a:off x="1028700" y="1946118"/>
            <a:ext cx="439387" cy="369332"/>
          </a:xfrm>
          <a:prstGeom prst="rect">
            <a:avLst/>
          </a:prstGeom>
          <a:noFill/>
        </p:spPr>
        <p:txBody>
          <a:bodyPr wrap="square" rtlCol="0">
            <a:spAutoFit/>
          </a:bodyPr>
          <a:lstStyle/>
          <a:p>
            <a:r>
              <a:rPr lang="en-US" dirty="0"/>
              <a:t>a</a:t>
            </a:r>
          </a:p>
        </p:txBody>
      </p:sp>
      <p:sp>
        <p:nvSpPr>
          <p:cNvPr id="22" name="TextBox 21">
            <a:extLst>
              <a:ext uri="{FF2B5EF4-FFF2-40B4-BE49-F238E27FC236}">
                <a16:creationId xmlns:a16="http://schemas.microsoft.com/office/drawing/2014/main" id="{8183E09B-B3ED-7C48-BBDF-28370B0727CB}"/>
              </a:ext>
            </a:extLst>
          </p:cNvPr>
          <p:cNvSpPr txBox="1"/>
          <p:nvPr/>
        </p:nvSpPr>
        <p:spPr>
          <a:xfrm>
            <a:off x="7766462" y="2012389"/>
            <a:ext cx="4168239" cy="3139321"/>
          </a:xfrm>
          <a:prstGeom prst="rect">
            <a:avLst/>
          </a:prstGeom>
          <a:noFill/>
        </p:spPr>
        <p:txBody>
          <a:bodyPr wrap="square" rtlCol="0">
            <a:spAutoFit/>
          </a:bodyPr>
          <a:lstStyle/>
          <a:p>
            <a:r>
              <a:rPr lang="en-US" b="1" dirty="0"/>
              <a:t>Figure 2: </a:t>
            </a:r>
            <a:r>
              <a:rPr lang="en-US" dirty="0"/>
              <a:t>Compressed sensing without a median filter on the fishing boat image (8x8 blocks) with different number of pixels sampled</a:t>
            </a:r>
          </a:p>
          <a:p>
            <a:endParaRPr lang="en-US" dirty="0"/>
          </a:p>
          <a:p>
            <a:r>
              <a:rPr lang="en-US" b="1" dirty="0"/>
              <a:t>a: </a:t>
            </a:r>
            <a:r>
              <a:rPr lang="en-US" dirty="0"/>
              <a:t>original image</a:t>
            </a:r>
          </a:p>
          <a:p>
            <a:r>
              <a:rPr lang="en-US" b="1" dirty="0"/>
              <a:t>b: </a:t>
            </a:r>
            <a:r>
              <a:rPr lang="en-US" dirty="0"/>
              <a:t>10 pixels sampled</a:t>
            </a:r>
          </a:p>
          <a:p>
            <a:r>
              <a:rPr lang="en-US" b="1" dirty="0"/>
              <a:t>c: </a:t>
            </a:r>
            <a:r>
              <a:rPr lang="en-US" dirty="0"/>
              <a:t>20 pixels sampled</a:t>
            </a:r>
          </a:p>
          <a:p>
            <a:r>
              <a:rPr lang="en-US" b="1" dirty="0"/>
              <a:t>d: </a:t>
            </a:r>
            <a:r>
              <a:rPr lang="en-US" dirty="0"/>
              <a:t>30 pixels sampled</a:t>
            </a:r>
          </a:p>
          <a:p>
            <a:r>
              <a:rPr lang="en-US" b="1" dirty="0"/>
              <a:t>e: </a:t>
            </a:r>
            <a:r>
              <a:rPr lang="en-US" dirty="0"/>
              <a:t>40 pixels sampled</a:t>
            </a:r>
          </a:p>
          <a:p>
            <a:r>
              <a:rPr lang="en-US" b="1" dirty="0"/>
              <a:t>f: </a:t>
            </a:r>
            <a:r>
              <a:rPr lang="en-US" dirty="0"/>
              <a:t>50 pixels sampled</a:t>
            </a:r>
            <a:endParaRPr lang="en-US" b="1" dirty="0"/>
          </a:p>
        </p:txBody>
      </p:sp>
    </p:spTree>
    <p:extLst>
      <p:ext uri="{BB962C8B-B14F-4D97-AF65-F5344CB8AC3E}">
        <p14:creationId xmlns:p14="http://schemas.microsoft.com/office/powerpoint/2010/main" val="1645241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A picture containing boat, outdoor, old, dock&#10;&#10;Description automatically generated">
            <a:extLst>
              <a:ext uri="{FF2B5EF4-FFF2-40B4-BE49-F238E27FC236}">
                <a16:creationId xmlns:a16="http://schemas.microsoft.com/office/drawing/2014/main" id="{6C361571-C2ED-5E45-9D0E-6C51330EAEF6}"/>
              </a:ext>
            </a:extLst>
          </p:cNvPr>
          <p:cNvPicPr>
            <a:picLocks noChangeAspect="1"/>
          </p:cNvPicPr>
          <p:nvPr/>
        </p:nvPicPr>
        <p:blipFill>
          <a:blip r:embed="rId2"/>
          <a:stretch>
            <a:fillRect/>
          </a:stretch>
        </p:blipFill>
        <p:spPr>
          <a:xfrm>
            <a:off x="5458395" y="4298389"/>
            <a:ext cx="2194560" cy="2286000"/>
          </a:xfrm>
          <a:prstGeom prst="rect">
            <a:avLst/>
          </a:prstGeom>
        </p:spPr>
      </p:pic>
      <p:pic>
        <p:nvPicPr>
          <p:cNvPr id="23" name="Picture 22" descr="A picture containing boat, outdoor, old&#10;&#10;Description automatically generated">
            <a:extLst>
              <a:ext uri="{FF2B5EF4-FFF2-40B4-BE49-F238E27FC236}">
                <a16:creationId xmlns:a16="http://schemas.microsoft.com/office/drawing/2014/main" id="{F40D30CD-6D86-B441-89DF-48356E5D2CE7}"/>
              </a:ext>
            </a:extLst>
          </p:cNvPr>
          <p:cNvPicPr>
            <a:picLocks noChangeAspect="1"/>
          </p:cNvPicPr>
          <p:nvPr/>
        </p:nvPicPr>
        <p:blipFill>
          <a:blip r:embed="rId3"/>
          <a:stretch>
            <a:fillRect/>
          </a:stretch>
        </p:blipFill>
        <p:spPr>
          <a:xfrm>
            <a:off x="3239490" y="4298389"/>
            <a:ext cx="2194560" cy="2286000"/>
          </a:xfrm>
          <a:prstGeom prst="rect">
            <a:avLst/>
          </a:prstGeom>
        </p:spPr>
      </p:pic>
      <p:pic>
        <p:nvPicPr>
          <p:cNvPr id="12" name="Picture 11" descr="A picture containing boat, outdoor, old, transport&#10;&#10;Description automatically generated">
            <a:extLst>
              <a:ext uri="{FF2B5EF4-FFF2-40B4-BE49-F238E27FC236}">
                <a16:creationId xmlns:a16="http://schemas.microsoft.com/office/drawing/2014/main" id="{34E77093-243A-9746-977A-474477D7EB1C}"/>
              </a:ext>
            </a:extLst>
          </p:cNvPr>
          <p:cNvPicPr>
            <a:picLocks noChangeAspect="1"/>
          </p:cNvPicPr>
          <p:nvPr/>
        </p:nvPicPr>
        <p:blipFill>
          <a:blip r:embed="rId4"/>
          <a:stretch>
            <a:fillRect/>
          </a:stretch>
        </p:blipFill>
        <p:spPr>
          <a:xfrm>
            <a:off x="1028700" y="4298389"/>
            <a:ext cx="2194560" cy="2286000"/>
          </a:xfrm>
          <a:prstGeom prst="rect">
            <a:avLst/>
          </a:prstGeom>
        </p:spPr>
      </p:pic>
      <p:sp>
        <p:nvSpPr>
          <p:cNvPr id="2" name="Title 1">
            <a:extLst>
              <a:ext uri="{FF2B5EF4-FFF2-40B4-BE49-F238E27FC236}">
                <a16:creationId xmlns:a16="http://schemas.microsoft.com/office/drawing/2014/main" id="{19219945-47F9-BB4E-9DC8-854995E6961E}"/>
              </a:ext>
            </a:extLst>
          </p:cNvPr>
          <p:cNvSpPr>
            <a:spLocks noGrp="1"/>
          </p:cNvSpPr>
          <p:nvPr>
            <p:ph type="title"/>
          </p:nvPr>
        </p:nvSpPr>
        <p:spPr/>
        <p:txBody>
          <a:bodyPr/>
          <a:lstStyle/>
          <a:p>
            <a:r>
              <a:rPr lang="en-US" dirty="0"/>
              <a:t>Fishing Boat (Small Test Image) – with Median Filter</a:t>
            </a:r>
          </a:p>
        </p:txBody>
      </p:sp>
      <p:pic>
        <p:nvPicPr>
          <p:cNvPr id="5" name="Content Placeholder 4" descr="A picture containing text, boat, outdoor, sky&#10;&#10;Description automatically generated">
            <a:extLst>
              <a:ext uri="{FF2B5EF4-FFF2-40B4-BE49-F238E27FC236}">
                <a16:creationId xmlns:a16="http://schemas.microsoft.com/office/drawing/2014/main" id="{953CDE2B-CF8C-2B49-BBC6-17191A2428FD}"/>
              </a:ext>
            </a:extLst>
          </p:cNvPr>
          <p:cNvPicPr>
            <a:picLocks noGrp="1" noChangeAspect="1"/>
          </p:cNvPicPr>
          <p:nvPr>
            <p:ph idx="1"/>
          </p:nvPr>
        </p:nvPicPr>
        <p:blipFill>
          <a:blip r:embed="rId5"/>
          <a:stretch>
            <a:fillRect/>
          </a:stretch>
        </p:blipFill>
        <p:spPr>
          <a:xfrm>
            <a:off x="1028700" y="2012389"/>
            <a:ext cx="2194560" cy="2286000"/>
          </a:xfrm>
        </p:spPr>
      </p:pic>
      <p:sp>
        <p:nvSpPr>
          <p:cNvPr id="16" name="TextBox 15">
            <a:extLst>
              <a:ext uri="{FF2B5EF4-FFF2-40B4-BE49-F238E27FC236}">
                <a16:creationId xmlns:a16="http://schemas.microsoft.com/office/drawing/2014/main" id="{4C7B3ACC-AF77-BB4B-9A0C-BC1742D6D2FB}"/>
              </a:ext>
            </a:extLst>
          </p:cNvPr>
          <p:cNvSpPr txBox="1"/>
          <p:nvPr/>
        </p:nvSpPr>
        <p:spPr>
          <a:xfrm>
            <a:off x="5462551" y="4298389"/>
            <a:ext cx="439387" cy="369332"/>
          </a:xfrm>
          <a:prstGeom prst="rect">
            <a:avLst/>
          </a:prstGeom>
          <a:noFill/>
        </p:spPr>
        <p:txBody>
          <a:bodyPr wrap="square" rtlCol="0">
            <a:spAutoFit/>
          </a:bodyPr>
          <a:lstStyle/>
          <a:p>
            <a:r>
              <a:rPr lang="en-US" dirty="0"/>
              <a:t>f</a:t>
            </a:r>
          </a:p>
        </p:txBody>
      </p:sp>
      <p:sp>
        <p:nvSpPr>
          <p:cNvPr id="17" name="TextBox 16">
            <a:extLst>
              <a:ext uri="{FF2B5EF4-FFF2-40B4-BE49-F238E27FC236}">
                <a16:creationId xmlns:a16="http://schemas.microsoft.com/office/drawing/2014/main" id="{9FE97D4A-AE6F-8A4A-A908-0A5D7BA455C3}"/>
              </a:ext>
            </a:extLst>
          </p:cNvPr>
          <p:cNvSpPr txBox="1"/>
          <p:nvPr/>
        </p:nvSpPr>
        <p:spPr>
          <a:xfrm>
            <a:off x="3239490" y="4241024"/>
            <a:ext cx="439387" cy="369332"/>
          </a:xfrm>
          <a:prstGeom prst="rect">
            <a:avLst/>
          </a:prstGeom>
          <a:noFill/>
        </p:spPr>
        <p:txBody>
          <a:bodyPr wrap="square" rtlCol="0">
            <a:spAutoFit/>
          </a:bodyPr>
          <a:lstStyle/>
          <a:p>
            <a:r>
              <a:rPr lang="en-US" dirty="0"/>
              <a:t>e</a:t>
            </a:r>
          </a:p>
        </p:txBody>
      </p:sp>
      <p:sp>
        <p:nvSpPr>
          <p:cNvPr id="18" name="TextBox 17">
            <a:extLst>
              <a:ext uri="{FF2B5EF4-FFF2-40B4-BE49-F238E27FC236}">
                <a16:creationId xmlns:a16="http://schemas.microsoft.com/office/drawing/2014/main" id="{B4235363-9E58-8249-ADB8-D7AEF56EAE2F}"/>
              </a:ext>
            </a:extLst>
          </p:cNvPr>
          <p:cNvSpPr txBox="1"/>
          <p:nvPr/>
        </p:nvSpPr>
        <p:spPr>
          <a:xfrm>
            <a:off x="1029095" y="4241024"/>
            <a:ext cx="439387" cy="369332"/>
          </a:xfrm>
          <a:prstGeom prst="rect">
            <a:avLst/>
          </a:prstGeom>
          <a:noFill/>
        </p:spPr>
        <p:txBody>
          <a:bodyPr wrap="square" rtlCol="0">
            <a:spAutoFit/>
          </a:bodyPr>
          <a:lstStyle/>
          <a:p>
            <a:r>
              <a:rPr lang="en-US" dirty="0"/>
              <a:t>d</a:t>
            </a:r>
          </a:p>
        </p:txBody>
      </p:sp>
      <p:pic>
        <p:nvPicPr>
          <p:cNvPr id="8" name="Picture 7" descr="A picture containing ship, watercraft, transport&#10;&#10;Description automatically generated">
            <a:extLst>
              <a:ext uri="{FF2B5EF4-FFF2-40B4-BE49-F238E27FC236}">
                <a16:creationId xmlns:a16="http://schemas.microsoft.com/office/drawing/2014/main" id="{4822A00B-6032-1246-A124-23A29419969B}"/>
              </a:ext>
            </a:extLst>
          </p:cNvPr>
          <p:cNvPicPr>
            <a:picLocks noChangeAspect="1"/>
          </p:cNvPicPr>
          <p:nvPr/>
        </p:nvPicPr>
        <p:blipFill>
          <a:blip r:embed="rId6"/>
          <a:stretch>
            <a:fillRect/>
          </a:stretch>
        </p:blipFill>
        <p:spPr>
          <a:xfrm>
            <a:off x="5460691" y="2012389"/>
            <a:ext cx="2194560" cy="2286000"/>
          </a:xfrm>
          <a:prstGeom prst="rect">
            <a:avLst/>
          </a:prstGeom>
        </p:spPr>
      </p:pic>
      <p:sp>
        <p:nvSpPr>
          <p:cNvPr id="19" name="TextBox 18">
            <a:extLst>
              <a:ext uri="{FF2B5EF4-FFF2-40B4-BE49-F238E27FC236}">
                <a16:creationId xmlns:a16="http://schemas.microsoft.com/office/drawing/2014/main" id="{6487D20A-0D59-5442-8397-4B64903E9C69}"/>
              </a:ext>
            </a:extLst>
          </p:cNvPr>
          <p:cNvSpPr txBox="1"/>
          <p:nvPr/>
        </p:nvSpPr>
        <p:spPr>
          <a:xfrm>
            <a:off x="5462551" y="1946118"/>
            <a:ext cx="439387" cy="369332"/>
          </a:xfrm>
          <a:prstGeom prst="rect">
            <a:avLst/>
          </a:prstGeom>
          <a:noFill/>
        </p:spPr>
        <p:txBody>
          <a:bodyPr wrap="square" rtlCol="0">
            <a:spAutoFit/>
          </a:bodyPr>
          <a:lstStyle/>
          <a:p>
            <a:r>
              <a:rPr lang="en-US" dirty="0"/>
              <a:t>c</a:t>
            </a:r>
          </a:p>
        </p:txBody>
      </p:sp>
      <p:pic>
        <p:nvPicPr>
          <p:cNvPr id="4" name="Picture 3" descr="A black and white photo of a person's face&#10;&#10;Description automatically generated with low confidence">
            <a:extLst>
              <a:ext uri="{FF2B5EF4-FFF2-40B4-BE49-F238E27FC236}">
                <a16:creationId xmlns:a16="http://schemas.microsoft.com/office/drawing/2014/main" id="{40C90A54-2E05-C049-A093-B717661B9255}"/>
              </a:ext>
            </a:extLst>
          </p:cNvPr>
          <p:cNvPicPr>
            <a:picLocks noChangeAspect="1"/>
          </p:cNvPicPr>
          <p:nvPr/>
        </p:nvPicPr>
        <p:blipFill>
          <a:blip r:embed="rId7"/>
          <a:stretch>
            <a:fillRect/>
          </a:stretch>
        </p:blipFill>
        <p:spPr>
          <a:xfrm>
            <a:off x="3247605" y="2012389"/>
            <a:ext cx="2194560" cy="2286000"/>
          </a:xfrm>
          <a:prstGeom prst="rect">
            <a:avLst/>
          </a:prstGeom>
        </p:spPr>
      </p:pic>
      <p:sp>
        <p:nvSpPr>
          <p:cNvPr id="20" name="TextBox 19">
            <a:extLst>
              <a:ext uri="{FF2B5EF4-FFF2-40B4-BE49-F238E27FC236}">
                <a16:creationId xmlns:a16="http://schemas.microsoft.com/office/drawing/2014/main" id="{C6C8A3C9-33DB-AC4C-92FE-BC5FB521AAEC}"/>
              </a:ext>
            </a:extLst>
          </p:cNvPr>
          <p:cNvSpPr txBox="1"/>
          <p:nvPr/>
        </p:nvSpPr>
        <p:spPr>
          <a:xfrm>
            <a:off x="3239490" y="1946118"/>
            <a:ext cx="439387" cy="369332"/>
          </a:xfrm>
          <a:prstGeom prst="rect">
            <a:avLst/>
          </a:prstGeom>
          <a:noFill/>
        </p:spPr>
        <p:txBody>
          <a:bodyPr wrap="square" rtlCol="0">
            <a:spAutoFit/>
          </a:bodyPr>
          <a:lstStyle/>
          <a:p>
            <a:r>
              <a:rPr lang="en-US" dirty="0"/>
              <a:t>b</a:t>
            </a:r>
          </a:p>
        </p:txBody>
      </p:sp>
      <p:sp>
        <p:nvSpPr>
          <p:cNvPr id="21" name="TextBox 20">
            <a:extLst>
              <a:ext uri="{FF2B5EF4-FFF2-40B4-BE49-F238E27FC236}">
                <a16:creationId xmlns:a16="http://schemas.microsoft.com/office/drawing/2014/main" id="{47076B93-0BD9-E948-9E7B-4FB561F6BE04}"/>
              </a:ext>
            </a:extLst>
          </p:cNvPr>
          <p:cNvSpPr txBox="1"/>
          <p:nvPr/>
        </p:nvSpPr>
        <p:spPr>
          <a:xfrm>
            <a:off x="1028700" y="1946118"/>
            <a:ext cx="439387" cy="369332"/>
          </a:xfrm>
          <a:prstGeom prst="rect">
            <a:avLst/>
          </a:prstGeom>
          <a:noFill/>
        </p:spPr>
        <p:txBody>
          <a:bodyPr wrap="square" rtlCol="0">
            <a:spAutoFit/>
          </a:bodyPr>
          <a:lstStyle/>
          <a:p>
            <a:r>
              <a:rPr lang="en-US" dirty="0"/>
              <a:t>a</a:t>
            </a:r>
          </a:p>
        </p:txBody>
      </p:sp>
      <p:sp>
        <p:nvSpPr>
          <p:cNvPr id="22" name="TextBox 21">
            <a:extLst>
              <a:ext uri="{FF2B5EF4-FFF2-40B4-BE49-F238E27FC236}">
                <a16:creationId xmlns:a16="http://schemas.microsoft.com/office/drawing/2014/main" id="{8183E09B-B3ED-7C48-BBDF-28370B0727CB}"/>
              </a:ext>
            </a:extLst>
          </p:cNvPr>
          <p:cNvSpPr txBox="1"/>
          <p:nvPr/>
        </p:nvSpPr>
        <p:spPr>
          <a:xfrm>
            <a:off x="7766462" y="2012389"/>
            <a:ext cx="4168239" cy="3139321"/>
          </a:xfrm>
          <a:prstGeom prst="rect">
            <a:avLst/>
          </a:prstGeom>
          <a:noFill/>
        </p:spPr>
        <p:txBody>
          <a:bodyPr wrap="square" rtlCol="0">
            <a:spAutoFit/>
          </a:bodyPr>
          <a:lstStyle/>
          <a:p>
            <a:r>
              <a:rPr lang="en-US" b="1" dirty="0"/>
              <a:t>Figure 3: </a:t>
            </a:r>
            <a:r>
              <a:rPr lang="en-US" dirty="0"/>
              <a:t>Compressed sensing with a median filter on the fishing boat image (8x8 blocks) with different number of pixels sampled</a:t>
            </a:r>
          </a:p>
          <a:p>
            <a:endParaRPr lang="en-US" dirty="0"/>
          </a:p>
          <a:p>
            <a:r>
              <a:rPr lang="en-US" b="1" dirty="0"/>
              <a:t>a: </a:t>
            </a:r>
            <a:r>
              <a:rPr lang="en-US" dirty="0"/>
              <a:t>original image</a:t>
            </a:r>
          </a:p>
          <a:p>
            <a:r>
              <a:rPr lang="en-US" b="1" dirty="0"/>
              <a:t>b: </a:t>
            </a:r>
            <a:r>
              <a:rPr lang="en-US" dirty="0"/>
              <a:t>10 pixels sampled</a:t>
            </a:r>
          </a:p>
          <a:p>
            <a:r>
              <a:rPr lang="en-US" b="1" dirty="0"/>
              <a:t>c: </a:t>
            </a:r>
            <a:r>
              <a:rPr lang="en-US" dirty="0"/>
              <a:t>20 pixels sampled</a:t>
            </a:r>
          </a:p>
          <a:p>
            <a:r>
              <a:rPr lang="en-US" b="1" dirty="0"/>
              <a:t>d: </a:t>
            </a:r>
            <a:r>
              <a:rPr lang="en-US" dirty="0"/>
              <a:t>30 pixels sampled</a:t>
            </a:r>
          </a:p>
          <a:p>
            <a:r>
              <a:rPr lang="en-US" b="1" dirty="0"/>
              <a:t>e: </a:t>
            </a:r>
            <a:r>
              <a:rPr lang="en-US" dirty="0"/>
              <a:t>40 pixels sampled</a:t>
            </a:r>
          </a:p>
          <a:p>
            <a:r>
              <a:rPr lang="en-US" b="1" dirty="0"/>
              <a:t>f: </a:t>
            </a:r>
            <a:r>
              <a:rPr lang="en-US" dirty="0"/>
              <a:t>50 pixels sampled</a:t>
            </a:r>
            <a:endParaRPr lang="en-US" b="1" dirty="0"/>
          </a:p>
        </p:txBody>
      </p:sp>
    </p:spTree>
    <p:extLst>
      <p:ext uri="{BB962C8B-B14F-4D97-AF65-F5344CB8AC3E}">
        <p14:creationId xmlns:p14="http://schemas.microsoft.com/office/powerpoint/2010/main" val="982514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23CBD-7B68-D542-8017-FAB0EF6953C2}"/>
              </a:ext>
            </a:extLst>
          </p:cNvPr>
          <p:cNvSpPr>
            <a:spLocks noGrp="1"/>
          </p:cNvSpPr>
          <p:nvPr>
            <p:ph type="title"/>
          </p:nvPr>
        </p:nvSpPr>
        <p:spPr/>
        <p:txBody>
          <a:bodyPr/>
          <a:lstStyle/>
          <a:p>
            <a:r>
              <a:rPr lang="en-US" dirty="0"/>
              <a:t>Fishing Boat Results</a:t>
            </a:r>
          </a:p>
        </p:txBody>
      </p:sp>
      <p:sp>
        <p:nvSpPr>
          <p:cNvPr id="3" name="Content Placeholder 2">
            <a:extLst>
              <a:ext uri="{FF2B5EF4-FFF2-40B4-BE49-F238E27FC236}">
                <a16:creationId xmlns:a16="http://schemas.microsoft.com/office/drawing/2014/main" id="{89ABC7BD-071E-C249-92C2-C2724E5D2ED7}"/>
              </a:ext>
            </a:extLst>
          </p:cNvPr>
          <p:cNvSpPr>
            <a:spLocks noGrp="1"/>
          </p:cNvSpPr>
          <p:nvPr>
            <p:ph idx="1"/>
          </p:nvPr>
        </p:nvSpPr>
        <p:spPr>
          <a:xfrm>
            <a:off x="1028700" y="2161903"/>
            <a:ext cx="6178136" cy="3969342"/>
          </a:xfrm>
        </p:spPr>
        <p:txBody>
          <a:bodyPr/>
          <a:lstStyle/>
          <a:p>
            <a:r>
              <a:rPr lang="en-US" dirty="0"/>
              <a:t>Figure 4 is a plot of the mean squared error of compressed sensing of the fishing boat model for different numbers of samples.</a:t>
            </a:r>
          </a:p>
          <a:p>
            <a:r>
              <a:rPr lang="en-US" b="1" dirty="0"/>
              <a:t>Number of Samples: </a:t>
            </a:r>
            <a:r>
              <a:rPr lang="en-US" dirty="0"/>
              <a:t>Based on the plot, as the number of samples increases, the mean squared error decreases.</a:t>
            </a:r>
          </a:p>
          <a:p>
            <a:r>
              <a:rPr lang="en-US" b="1" dirty="0"/>
              <a:t>Median Filtering:</a:t>
            </a:r>
            <a:r>
              <a:rPr lang="en-US" dirty="0"/>
              <a:t> At 20 samples, the quality of the image with a median filter is worse than without a median filter but prior to 20 samples, the image quality is significantly better with a median filter.</a:t>
            </a:r>
          </a:p>
        </p:txBody>
      </p:sp>
      <p:sp>
        <p:nvSpPr>
          <p:cNvPr id="9" name="TextBox 8">
            <a:extLst>
              <a:ext uri="{FF2B5EF4-FFF2-40B4-BE49-F238E27FC236}">
                <a16:creationId xmlns:a16="http://schemas.microsoft.com/office/drawing/2014/main" id="{627344B8-9B7B-D346-9788-BC0600998FD3}"/>
              </a:ext>
            </a:extLst>
          </p:cNvPr>
          <p:cNvSpPr txBox="1"/>
          <p:nvPr/>
        </p:nvSpPr>
        <p:spPr>
          <a:xfrm>
            <a:off x="7561525" y="5407596"/>
            <a:ext cx="4121239" cy="646331"/>
          </a:xfrm>
          <a:prstGeom prst="rect">
            <a:avLst/>
          </a:prstGeom>
          <a:noFill/>
        </p:spPr>
        <p:txBody>
          <a:bodyPr wrap="square" rtlCol="0">
            <a:spAutoFit/>
          </a:bodyPr>
          <a:lstStyle/>
          <a:p>
            <a:r>
              <a:rPr lang="en-US" b="1" dirty="0"/>
              <a:t>Figure 4:</a:t>
            </a:r>
            <a:r>
              <a:rPr lang="en-US" dirty="0"/>
              <a:t> The effect of number of samples on mean squared error</a:t>
            </a:r>
            <a:endParaRPr lang="en-US" b="1" dirty="0"/>
          </a:p>
        </p:txBody>
      </p:sp>
      <p:pic>
        <p:nvPicPr>
          <p:cNvPr id="11" name="Picture 10" descr="Chart, line chart&#10;&#10;Description automatically generated">
            <a:extLst>
              <a:ext uri="{FF2B5EF4-FFF2-40B4-BE49-F238E27FC236}">
                <a16:creationId xmlns:a16="http://schemas.microsoft.com/office/drawing/2014/main" id="{839F91F4-072F-534F-8A8A-32C361A770DE}"/>
              </a:ext>
            </a:extLst>
          </p:cNvPr>
          <p:cNvPicPr>
            <a:picLocks noChangeAspect="1"/>
          </p:cNvPicPr>
          <p:nvPr/>
        </p:nvPicPr>
        <p:blipFill>
          <a:blip r:embed="rId2"/>
          <a:stretch>
            <a:fillRect/>
          </a:stretch>
        </p:blipFill>
        <p:spPr>
          <a:xfrm>
            <a:off x="7301085" y="1926007"/>
            <a:ext cx="4642118" cy="3481589"/>
          </a:xfrm>
          <a:prstGeom prst="rect">
            <a:avLst/>
          </a:prstGeom>
        </p:spPr>
      </p:pic>
    </p:spTree>
    <p:extLst>
      <p:ext uri="{BB962C8B-B14F-4D97-AF65-F5344CB8AC3E}">
        <p14:creationId xmlns:p14="http://schemas.microsoft.com/office/powerpoint/2010/main" val="1571685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descr="A lake surrounded by mountains&#10;&#10;Description automatically generated with low confidence">
            <a:extLst>
              <a:ext uri="{FF2B5EF4-FFF2-40B4-BE49-F238E27FC236}">
                <a16:creationId xmlns:a16="http://schemas.microsoft.com/office/drawing/2014/main" id="{87479B07-B29A-A34C-8AFD-DF2DAADBC34C}"/>
              </a:ext>
            </a:extLst>
          </p:cNvPr>
          <p:cNvPicPr>
            <a:picLocks noChangeAspect="1"/>
          </p:cNvPicPr>
          <p:nvPr/>
        </p:nvPicPr>
        <p:blipFill>
          <a:blip r:embed="rId2"/>
          <a:stretch>
            <a:fillRect/>
          </a:stretch>
        </p:blipFill>
        <p:spPr>
          <a:xfrm>
            <a:off x="5449885" y="4298389"/>
            <a:ext cx="2194560" cy="1755648"/>
          </a:xfrm>
          <a:prstGeom prst="rect">
            <a:avLst/>
          </a:prstGeom>
        </p:spPr>
      </p:pic>
      <p:pic>
        <p:nvPicPr>
          <p:cNvPr id="32" name="Picture 31" descr="A lake surrounded by mountains&#10;&#10;Description automatically generated with low confidence">
            <a:extLst>
              <a:ext uri="{FF2B5EF4-FFF2-40B4-BE49-F238E27FC236}">
                <a16:creationId xmlns:a16="http://schemas.microsoft.com/office/drawing/2014/main" id="{8757FC4A-88F7-744A-BBEC-BEE92628D620}"/>
              </a:ext>
            </a:extLst>
          </p:cNvPr>
          <p:cNvPicPr>
            <a:picLocks noChangeAspect="1"/>
          </p:cNvPicPr>
          <p:nvPr/>
        </p:nvPicPr>
        <p:blipFill>
          <a:blip r:embed="rId3"/>
          <a:stretch>
            <a:fillRect/>
          </a:stretch>
        </p:blipFill>
        <p:spPr>
          <a:xfrm>
            <a:off x="3235926" y="4298389"/>
            <a:ext cx="2194560" cy="1755648"/>
          </a:xfrm>
          <a:prstGeom prst="rect">
            <a:avLst/>
          </a:prstGeom>
        </p:spPr>
      </p:pic>
      <p:pic>
        <p:nvPicPr>
          <p:cNvPr id="30" name="Picture 29" descr="A lake with mountains in the background&#10;&#10;Description automatically generated with low confidence">
            <a:extLst>
              <a:ext uri="{FF2B5EF4-FFF2-40B4-BE49-F238E27FC236}">
                <a16:creationId xmlns:a16="http://schemas.microsoft.com/office/drawing/2014/main" id="{5CD02599-EC0A-8447-B7C3-4E7574772C56}"/>
              </a:ext>
            </a:extLst>
          </p:cNvPr>
          <p:cNvPicPr>
            <a:picLocks noChangeAspect="1"/>
          </p:cNvPicPr>
          <p:nvPr/>
        </p:nvPicPr>
        <p:blipFill>
          <a:blip r:embed="rId4"/>
          <a:stretch>
            <a:fillRect/>
          </a:stretch>
        </p:blipFill>
        <p:spPr>
          <a:xfrm>
            <a:off x="1028700" y="4298389"/>
            <a:ext cx="2194560" cy="1755648"/>
          </a:xfrm>
          <a:prstGeom prst="rect">
            <a:avLst/>
          </a:prstGeom>
        </p:spPr>
      </p:pic>
      <p:pic>
        <p:nvPicPr>
          <p:cNvPr id="28" name="Picture 27" descr="A picture containing boat, outdoor, nature, docked&#10;&#10;Description automatically generated">
            <a:extLst>
              <a:ext uri="{FF2B5EF4-FFF2-40B4-BE49-F238E27FC236}">
                <a16:creationId xmlns:a16="http://schemas.microsoft.com/office/drawing/2014/main" id="{F3213B19-0ACA-DD4F-9372-D11081D52096}"/>
              </a:ext>
            </a:extLst>
          </p:cNvPr>
          <p:cNvPicPr>
            <a:picLocks noChangeAspect="1"/>
          </p:cNvPicPr>
          <p:nvPr/>
        </p:nvPicPr>
        <p:blipFill>
          <a:blip r:embed="rId5"/>
          <a:stretch>
            <a:fillRect/>
          </a:stretch>
        </p:blipFill>
        <p:spPr>
          <a:xfrm>
            <a:off x="5444294" y="2012389"/>
            <a:ext cx="2194560" cy="1755648"/>
          </a:xfrm>
          <a:prstGeom prst="rect">
            <a:avLst/>
          </a:prstGeom>
        </p:spPr>
      </p:pic>
      <p:pic>
        <p:nvPicPr>
          <p:cNvPr id="26" name="Picture 25" descr="A lake with mountains in the background&#10;&#10;Description automatically generated with medium confidence">
            <a:extLst>
              <a:ext uri="{FF2B5EF4-FFF2-40B4-BE49-F238E27FC236}">
                <a16:creationId xmlns:a16="http://schemas.microsoft.com/office/drawing/2014/main" id="{400EE613-E14A-AD4A-9920-313E8025EF5B}"/>
              </a:ext>
            </a:extLst>
          </p:cNvPr>
          <p:cNvPicPr>
            <a:picLocks noChangeAspect="1"/>
          </p:cNvPicPr>
          <p:nvPr/>
        </p:nvPicPr>
        <p:blipFill>
          <a:blip r:embed="rId6"/>
          <a:stretch>
            <a:fillRect/>
          </a:stretch>
        </p:blipFill>
        <p:spPr>
          <a:xfrm>
            <a:off x="1028700" y="2004359"/>
            <a:ext cx="2194560" cy="1755648"/>
          </a:xfrm>
          <a:prstGeom prst="rect">
            <a:avLst/>
          </a:prstGeom>
        </p:spPr>
      </p:pic>
      <p:pic>
        <p:nvPicPr>
          <p:cNvPr id="12" name="Picture 11" descr="A black and white photo of a person's face&#10;&#10;Description automatically generated with low confidence">
            <a:extLst>
              <a:ext uri="{FF2B5EF4-FFF2-40B4-BE49-F238E27FC236}">
                <a16:creationId xmlns:a16="http://schemas.microsoft.com/office/drawing/2014/main" id="{6734E8D0-FCA0-F14B-B3F7-DD767F14BF6F}"/>
              </a:ext>
            </a:extLst>
          </p:cNvPr>
          <p:cNvPicPr>
            <a:picLocks noChangeAspect="1"/>
          </p:cNvPicPr>
          <p:nvPr/>
        </p:nvPicPr>
        <p:blipFill>
          <a:blip r:embed="rId7"/>
          <a:stretch>
            <a:fillRect/>
          </a:stretch>
        </p:blipFill>
        <p:spPr>
          <a:xfrm>
            <a:off x="3239490" y="2012389"/>
            <a:ext cx="2194560" cy="1755648"/>
          </a:xfrm>
          <a:prstGeom prst="rect">
            <a:avLst/>
          </a:prstGeom>
        </p:spPr>
      </p:pic>
      <p:sp>
        <p:nvSpPr>
          <p:cNvPr id="2" name="Title 1">
            <a:extLst>
              <a:ext uri="{FF2B5EF4-FFF2-40B4-BE49-F238E27FC236}">
                <a16:creationId xmlns:a16="http://schemas.microsoft.com/office/drawing/2014/main" id="{19219945-47F9-BB4E-9DC8-854995E6961E}"/>
              </a:ext>
            </a:extLst>
          </p:cNvPr>
          <p:cNvSpPr>
            <a:spLocks noGrp="1"/>
          </p:cNvSpPr>
          <p:nvPr>
            <p:ph type="title"/>
          </p:nvPr>
        </p:nvSpPr>
        <p:spPr/>
        <p:txBody>
          <a:bodyPr/>
          <a:lstStyle/>
          <a:p>
            <a:r>
              <a:rPr lang="en-US" dirty="0"/>
              <a:t>Nature (Large Test Image) – without Median Filter</a:t>
            </a:r>
          </a:p>
        </p:txBody>
      </p:sp>
      <p:sp>
        <p:nvSpPr>
          <p:cNvPr id="16" name="TextBox 15">
            <a:extLst>
              <a:ext uri="{FF2B5EF4-FFF2-40B4-BE49-F238E27FC236}">
                <a16:creationId xmlns:a16="http://schemas.microsoft.com/office/drawing/2014/main" id="{4C7B3ACC-AF77-BB4B-9A0C-BC1742D6D2FB}"/>
              </a:ext>
            </a:extLst>
          </p:cNvPr>
          <p:cNvSpPr txBox="1"/>
          <p:nvPr/>
        </p:nvSpPr>
        <p:spPr>
          <a:xfrm>
            <a:off x="5462551" y="4298389"/>
            <a:ext cx="439387" cy="369332"/>
          </a:xfrm>
          <a:prstGeom prst="rect">
            <a:avLst/>
          </a:prstGeom>
          <a:noFill/>
        </p:spPr>
        <p:txBody>
          <a:bodyPr wrap="square" rtlCol="0">
            <a:spAutoFit/>
          </a:bodyPr>
          <a:lstStyle/>
          <a:p>
            <a:r>
              <a:rPr lang="en-US" b="1" dirty="0">
                <a:solidFill>
                  <a:schemeClr val="bg1"/>
                </a:solidFill>
              </a:rPr>
              <a:t>f</a:t>
            </a:r>
          </a:p>
        </p:txBody>
      </p:sp>
      <p:sp>
        <p:nvSpPr>
          <p:cNvPr id="17" name="TextBox 16">
            <a:extLst>
              <a:ext uri="{FF2B5EF4-FFF2-40B4-BE49-F238E27FC236}">
                <a16:creationId xmlns:a16="http://schemas.microsoft.com/office/drawing/2014/main" id="{9FE97D4A-AE6F-8A4A-A908-0A5D7BA455C3}"/>
              </a:ext>
            </a:extLst>
          </p:cNvPr>
          <p:cNvSpPr txBox="1"/>
          <p:nvPr/>
        </p:nvSpPr>
        <p:spPr>
          <a:xfrm>
            <a:off x="3239490" y="4241024"/>
            <a:ext cx="439387" cy="369332"/>
          </a:xfrm>
          <a:prstGeom prst="rect">
            <a:avLst/>
          </a:prstGeom>
          <a:noFill/>
        </p:spPr>
        <p:txBody>
          <a:bodyPr wrap="square" rtlCol="0">
            <a:spAutoFit/>
          </a:bodyPr>
          <a:lstStyle/>
          <a:p>
            <a:r>
              <a:rPr lang="en-US" b="1" dirty="0">
                <a:solidFill>
                  <a:schemeClr val="bg1"/>
                </a:solidFill>
              </a:rPr>
              <a:t>e</a:t>
            </a:r>
          </a:p>
        </p:txBody>
      </p:sp>
      <p:sp>
        <p:nvSpPr>
          <p:cNvPr id="18" name="TextBox 17">
            <a:extLst>
              <a:ext uri="{FF2B5EF4-FFF2-40B4-BE49-F238E27FC236}">
                <a16:creationId xmlns:a16="http://schemas.microsoft.com/office/drawing/2014/main" id="{B4235363-9E58-8249-ADB8-D7AEF56EAE2F}"/>
              </a:ext>
            </a:extLst>
          </p:cNvPr>
          <p:cNvSpPr txBox="1"/>
          <p:nvPr/>
        </p:nvSpPr>
        <p:spPr>
          <a:xfrm>
            <a:off x="1029095" y="4241024"/>
            <a:ext cx="439387" cy="369332"/>
          </a:xfrm>
          <a:prstGeom prst="rect">
            <a:avLst/>
          </a:prstGeom>
          <a:noFill/>
        </p:spPr>
        <p:txBody>
          <a:bodyPr wrap="square" rtlCol="0">
            <a:spAutoFit/>
          </a:bodyPr>
          <a:lstStyle/>
          <a:p>
            <a:r>
              <a:rPr lang="en-US" b="1" dirty="0">
                <a:solidFill>
                  <a:schemeClr val="bg1"/>
                </a:solidFill>
              </a:rPr>
              <a:t>d</a:t>
            </a:r>
          </a:p>
        </p:txBody>
      </p:sp>
      <p:sp>
        <p:nvSpPr>
          <p:cNvPr id="19" name="TextBox 18">
            <a:extLst>
              <a:ext uri="{FF2B5EF4-FFF2-40B4-BE49-F238E27FC236}">
                <a16:creationId xmlns:a16="http://schemas.microsoft.com/office/drawing/2014/main" id="{6487D20A-0D59-5442-8397-4B64903E9C69}"/>
              </a:ext>
            </a:extLst>
          </p:cNvPr>
          <p:cNvSpPr txBox="1"/>
          <p:nvPr/>
        </p:nvSpPr>
        <p:spPr>
          <a:xfrm>
            <a:off x="5462551" y="1946118"/>
            <a:ext cx="439387" cy="369332"/>
          </a:xfrm>
          <a:prstGeom prst="rect">
            <a:avLst/>
          </a:prstGeom>
          <a:noFill/>
        </p:spPr>
        <p:txBody>
          <a:bodyPr wrap="square" rtlCol="0">
            <a:spAutoFit/>
          </a:bodyPr>
          <a:lstStyle/>
          <a:p>
            <a:r>
              <a:rPr lang="en-US" b="1" dirty="0">
                <a:solidFill>
                  <a:schemeClr val="bg1"/>
                </a:solidFill>
              </a:rPr>
              <a:t>c</a:t>
            </a:r>
          </a:p>
        </p:txBody>
      </p:sp>
      <p:sp>
        <p:nvSpPr>
          <p:cNvPr id="20" name="TextBox 19">
            <a:extLst>
              <a:ext uri="{FF2B5EF4-FFF2-40B4-BE49-F238E27FC236}">
                <a16:creationId xmlns:a16="http://schemas.microsoft.com/office/drawing/2014/main" id="{C6C8A3C9-33DB-AC4C-92FE-BC5FB521AAEC}"/>
              </a:ext>
            </a:extLst>
          </p:cNvPr>
          <p:cNvSpPr txBox="1"/>
          <p:nvPr/>
        </p:nvSpPr>
        <p:spPr>
          <a:xfrm>
            <a:off x="3239490" y="1946118"/>
            <a:ext cx="439387" cy="369332"/>
          </a:xfrm>
          <a:prstGeom prst="rect">
            <a:avLst/>
          </a:prstGeom>
          <a:noFill/>
        </p:spPr>
        <p:txBody>
          <a:bodyPr wrap="square" rtlCol="0">
            <a:spAutoFit/>
          </a:bodyPr>
          <a:lstStyle/>
          <a:p>
            <a:r>
              <a:rPr lang="en-US" b="1" dirty="0">
                <a:solidFill>
                  <a:schemeClr val="bg1"/>
                </a:solidFill>
              </a:rPr>
              <a:t>b</a:t>
            </a:r>
          </a:p>
        </p:txBody>
      </p:sp>
      <p:sp>
        <p:nvSpPr>
          <p:cNvPr id="21" name="TextBox 20">
            <a:extLst>
              <a:ext uri="{FF2B5EF4-FFF2-40B4-BE49-F238E27FC236}">
                <a16:creationId xmlns:a16="http://schemas.microsoft.com/office/drawing/2014/main" id="{47076B93-0BD9-E948-9E7B-4FB561F6BE04}"/>
              </a:ext>
            </a:extLst>
          </p:cNvPr>
          <p:cNvSpPr txBox="1"/>
          <p:nvPr/>
        </p:nvSpPr>
        <p:spPr>
          <a:xfrm>
            <a:off x="1028700" y="1946118"/>
            <a:ext cx="439387" cy="369332"/>
          </a:xfrm>
          <a:prstGeom prst="rect">
            <a:avLst/>
          </a:prstGeom>
          <a:noFill/>
        </p:spPr>
        <p:txBody>
          <a:bodyPr wrap="square" rtlCol="0">
            <a:spAutoFit/>
          </a:bodyPr>
          <a:lstStyle/>
          <a:p>
            <a:r>
              <a:rPr lang="en-US" b="1" dirty="0">
                <a:solidFill>
                  <a:schemeClr val="bg1"/>
                </a:solidFill>
              </a:rPr>
              <a:t>a</a:t>
            </a:r>
          </a:p>
        </p:txBody>
      </p:sp>
      <p:sp>
        <p:nvSpPr>
          <p:cNvPr id="22" name="TextBox 21">
            <a:extLst>
              <a:ext uri="{FF2B5EF4-FFF2-40B4-BE49-F238E27FC236}">
                <a16:creationId xmlns:a16="http://schemas.microsoft.com/office/drawing/2014/main" id="{8183E09B-B3ED-7C48-BBDF-28370B0727CB}"/>
              </a:ext>
            </a:extLst>
          </p:cNvPr>
          <p:cNvSpPr txBox="1"/>
          <p:nvPr/>
        </p:nvSpPr>
        <p:spPr>
          <a:xfrm>
            <a:off x="7766462" y="2012389"/>
            <a:ext cx="4168239" cy="3139321"/>
          </a:xfrm>
          <a:prstGeom prst="rect">
            <a:avLst/>
          </a:prstGeom>
          <a:noFill/>
        </p:spPr>
        <p:txBody>
          <a:bodyPr wrap="square" rtlCol="0">
            <a:spAutoFit/>
          </a:bodyPr>
          <a:lstStyle/>
          <a:p>
            <a:r>
              <a:rPr lang="en-US" b="1" dirty="0"/>
              <a:t>Figure 5: </a:t>
            </a:r>
            <a:r>
              <a:rPr lang="en-US" dirty="0"/>
              <a:t>Compressed sensing without a median filter on the nature image (16x16 blocks) with different number of pixels sampled</a:t>
            </a:r>
          </a:p>
          <a:p>
            <a:endParaRPr lang="en-US" dirty="0"/>
          </a:p>
          <a:p>
            <a:r>
              <a:rPr lang="en-US" b="1" dirty="0"/>
              <a:t>a: </a:t>
            </a:r>
            <a:r>
              <a:rPr lang="en-US" dirty="0"/>
              <a:t>original image</a:t>
            </a:r>
          </a:p>
          <a:p>
            <a:r>
              <a:rPr lang="en-US" b="1" dirty="0"/>
              <a:t>b: </a:t>
            </a:r>
            <a:r>
              <a:rPr lang="en-US" dirty="0"/>
              <a:t>10 pixels sampled</a:t>
            </a:r>
          </a:p>
          <a:p>
            <a:r>
              <a:rPr lang="en-US" b="1" dirty="0"/>
              <a:t>c: </a:t>
            </a:r>
            <a:r>
              <a:rPr lang="en-US" dirty="0"/>
              <a:t>30 pixels sampled</a:t>
            </a:r>
          </a:p>
          <a:p>
            <a:r>
              <a:rPr lang="en-US" b="1" dirty="0"/>
              <a:t>d: </a:t>
            </a:r>
            <a:r>
              <a:rPr lang="en-US" dirty="0"/>
              <a:t>50 pixels sampled</a:t>
            </a:r>
          </a:p>
          <a:p>
            <a:r>
              <a:rPr lang="en-US" b="1" dirty="0"/>
              <a:t>e: </a:t>
            </a:r>
            <a:r>
              <a:rPr lang="en-US" dirty="0"/>
              <a:t>100 pixels sampled</a:t>
            </a:r>
          </a:p>
          <a:p>
            <a:r>
              <a:rPr lang="en-US" b="1" dirty="0"/>
              <a:t>f: </a:t>
            </a:r>
            <a:r>
              <a:rPr lang="en-US" dirty="0"/>
              <a:t>150 pixels sampled</a:t>
            </a:r>
          </a:p>
        </p:txBody>
      </p:sp>
    </p:spTree>
    <p:extLst>
      <p:ext uri="{BB962C8B-B14F-4D97-AF65-F5344CB8AC3E}">
        <p14:creationId xmlns:p14="http://schemas.microsoft.com/office/powerpoint/2010/main" val="280442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lake surrounded by mountains&#10;&#10;Description automatically generated with low confidence">
            <a:extLst>
              <a:ext uri="{FF2B5EF4-FFF2-40B4-BE49-F238E27FC236}">
                <a16:creationId xmlns:a16="http://schemas.microsoft.com/office/drawing/2014/main" id="{88E3D021-52E2-7D4F-897A-37CC5A30E1C7}"/>
              </a:ext>
            </a:extLst>
          </p:cNvPr>
          <p:cNvPicPr>
            <a:picLocks noChangeAspect="1"/>
          </p:cNvPicPr>
          <p:nvPr/>
        </p:nvPicPr>
        <p:blipFill>
          <a:blip r:embed="rId2"/>
          <a:stretch>
            <a:fillRect/>
          </a:stretch>
        </p:blipFill>
        <p:spPr>
          <a:xfrm>
            <a:off x="5449885" y="4298389"/>
            <a:ext cx="2194560" cy="1755648"/>
          </a:xfrm>
          <a:prstGeom prst="rect">
            <a:avLst/>
          </a:prstGeom>
        </p:spPr>
      </p:pic>
      <p:pic>
        <p:nvPicPr>
          <p:cNvPr id="10" name="Picture 9" descr="A lake with mountains in the background&#10;&#10;Description automatically generated with low confidence">
            <a:extLst>
              <a:ext uri="{FF2B5EF4-FFF2-40B4-BE49-F238E27FC236}">
                <a16:creationId xmlns:a16="http://schemas.microsoft.com/office/drawing/2014/main" id="{2996057E-5F31-E84F-890E-8A0ADD839313}"/>
              </a:ext>
            </a:extLst>
          </p:cNvPr>
          <p:cNvPicPr>
            <a:picLocks noChangeAspect="1"/>
          </p:cNvPicPr>
          <p:nvPr/>
        </p:nvPicPr>
        <p:blipFill>
          <a:blip r:embed="rId3"/>
          <a:stretch>
            <a:fillRect/>
          </a:stretch>
        </p:blipFill>
        <p:spPr>
          <a:xfrm>
            <a:off x="3233504" y="4298389"/>
            <a:ext cx="2194560" cy="1755648"/>
          </a:xfrm>
          <a:prstGeom prst="rect">
            <a:avLst/>
          </a:prstGeom>
        </p:spPr>
      </p:pic>
      <p:pic>
        <p:nvPicPr>
          <p:cNvPr id="8" name="Picture 7" descr="A picture containing outdoor, boat, nature&#10;&#10;Description automatically generated">
            <a:extLst>
              <a:ext uri="{FF2B5EF4-FFF2-40B4-BE49-F238E27FC236}">
                <a16:creationId xmlns:a16="http://schemas.microsoft.com/office/drawing/2014/main" id="{4BCC5118-892D-7040-BC7C-6F74BDC1E244}"/>
              </a:ext>
            </a:extLst>
          </p:cNvPr>
          <p:cNvPicPr>
            <a:picLocks noChangeAspect="1"/>
          </p:cNvPicPr>
          <p:nvPr/>
        </p:nvPicPr>
        <p:blipFill>
          <a:blip r:embed="rId4"/>
          <a:stretch>
            <a:fillRect/>
          </a:stretch>
        </p:blipFill>
        <p:spPr>
          <a:xfrm>
            <a:off x="1028700" y="4298389"/>
            <a:ext cx="2194560" cy="1755648"/>
          </a:xfrm>
          <a:prstGeom prst="rect">
            <a:avLst/>
          </a:prstGeom>
        </p:spPr>
      </p:pic>
      <p:pic>
        <p:nvPicPr>
          <p:cNvPr id="6" name="Picture 5" descr="A picture containing outdoor&#10;&#10;Description automatically generated">
            <a:extLst>
              <a:ext uri="{FF2B5EF4-FFF2-40B4-BE49-F238E27FC236}">
                <a16:creationId xmlns:a16="http://schemas.microsoft.com/office/drawing/2014/main" id="{1E7E3022-0B37-0E41-9F1D-36D9E0E83E1D}"/>
              </a:ext>
            </a:extLst>
          </p:cNvPr>
          <p:cNvPicPr>
            <a:picLocks noChangeAspect="1"/>
          </p:cNvPicPr>
          <p:nvPr/>
        </p:nvPicPr>
        <p:blipFill>
          <a:blip r:embed="rId5"/>
          <a:stretch>
            <a:fillRect/>
          </a:stretch>
        </p:blipFill>
        <p:spPr>
          <a:xfrm>
            <a:off x="5449885" y="2004359"/>
            <a:ext cx="2194560" cy="1755648"/>
          </a:xfrm>
          <a:prstGeom prst="rect">
            <a:avLst/>
          </a:prstGeom>
        </p:spPr>
      </p:pic>
      <p:pic>
        <p:nvPicPr>
          <p:cNvPr id="4" name="Picture 3" descr="A black and white photo of a city&#10;&#10;Description automatically generated with low confidence">
            <a:extLst>
              <a:ext uri="{FF2B5EF4-FFF2-40B4-BE49-F238E27FC236}">
                <a16:creationId xmlns:a16="http://schemas.microsoft.com/office/drawing/2014/main" id="{C8C7316A-9792-9C4C-B408-C96D36F8C488}"/>
              </a:ext>
            </a:extLst>
          </p:cNvPr>
          <p:cNvPicPr>
            <a:picLocks noChangeAspect="1"/>
          </p:cNvPicPr>
          <p:nvPr/>
        </p:nvPicPr>
        <p:blipFill>
          <a:blip r:embed="rId6"/>
          <a:stretch>
            <a:fillRect/>
          </a:stretch>
        </p:blipFill>
        <p:spPr>
          <a:xfrm>
            <a:off x="3233504" y="2004359"/>
            <a:ext cx="2194560" cy="1755648"/>
          </a:xfrm>
          <a:prstGeom prst="rect">
            <a:avLst/>
          </a:prstGeom>
        </p:spPr>
      </p:pic>
      <p:pic>
        <p:nvPicPr>
          <p:cNvPr id="26" name="Picture 25" descr="A lake with mountains in the background&#10;&#10;Description automatically generated with medium confidence">
            <a:extLst>
              <a:ext uri="{FF2B5EF4-FFF2-40B4-BE49-F238E27FC236}">
                <a16:creationId xmlns:a16="http://schemas.microsoft.com/office/drawing/2014/main" id="{400EE613-E14A-AD4A-9920-313E8025EF5B}"/>
              </a:ext>
            </a:extLst>
          </p:cNvPr>
          <p:cNvPicPr>
            <a:picLocks noChangeAspect="1"/>
          </p:cNvPicPr>
          <p:nvPr/>
        </p:nvPicPr>
        <p:blipFill>
          <a:blip r:embed="rId7"/>
          <a:stretch>
            <a:fillRect/>
          </a:stretch>
        </p:blipFill>
        <p:spPr>
          <a:xfrm>
            <a:off x="1028700" y="2004359"/>
            <a:ext cx="2194560" cy="1755648"/>
          </a:xfrm>
          <a:prstGeom prst="rect">
            <a:avLst/>
          </a:prstGeom>
        </p:spPr>
      </p:pic>
      <p:sp>
        <p:nvSpPr>
          <p:cNvPr id="2" name="Title 1">
            <a:extLst>
              <a:ext uri="{FF2B5EF4-FFF2-40B4-BE49-F238E27FC236}">
                <a16:creationId xmlns:a16="http://schemas.microsoft.com/office/drawing/2014/main" id="{19219945-47F9-BB4E-9DC8-854995E6961E}"/>
              </a:ext>
            </a:extLst>
          </p:cNvPr>
          <p:cNvSpPr>
            <a:spLocks noGrp="1"/>
          </p:cNvSpPr>
          <p:nvPr>
            <p:ph type="title"/>
          </p:nvPr>
        </p:nvSpPr>
        <p:spPr/>
        <p:txBody>
          <a:bodyPr/>
          <a:lstStyle/>
          <a:p>
            <a:r>
              <a:rPr lang="en-US" dirty="0"/>
              <a:t>Nature (Large Test Image) – with Median Filter</a:t>
            </a:r>
          </a:p>
        </p:txBody>
      </p:sp>
      <p:sp>
        <p:nvSpPr>
          <p:cNvPr id="16" name="TextBox 15">
            <a:extLst>
              <a:ext uri="{FF2B5EF4-FFF2-40B4-BE49-F238E27FC236}">
                <a16:creationId xmlns:a16="http://schemas.microsoft.com/office/drawing/2014/main" id="{4C7B3ACC-AF77-BB4B-9A0C-BC1742D6D2FB}"/>
              </a:ext>
            </a:extLst>
          </p:cNvPr>
          <p:cNvSpPr txBox="1"/>
          <p:nvPr/>
        </p:nvSpPr>
        <p:spPr>
          <a:xfrm>
            <a:off x="5462551" y="4298389"/>
            <a:ext cx="439387" cy="369332"/>
          </a:xfrm>
          <a:prstGeom prst="rect">
            <a:avLst/>
          </a:prstGeom>
          <a:noFill/>
        </p:spPr>
        <p:txBody>
          <a:bodyPr wrap="square" rtlCol="0">
            <a:spAutoFit/>
          </a:bodyPr>
          <a:lstStyle/>
          <a:p>
            <a:r>
              <a:rPr lang="en-US" b="1" dirty="0">
                <a:solidFill>
                  <a:schemeClr val="bg1"/>
                </a:solidFill>
              </a:rPr>
              <a:t>f</a:t>
            </a:r>
          </a:p>
        </p:txBody>
      </p:sp>
      <p:sp>
        <p:nvSpPr>
          <p:cNvPr id="17" name="TextBox 16">
            <a:extLst>
              <a:ext uri="{FF2B5EF4-FFF2-40B4-BE49-F238E27FC236}">
                <a16:creationId xmlns:a16="http://schemas.microsoft.com/office/drawing/2014/main" id="{9FE97D4A-AE6F-8A4A-A908-0A5D7BA455C3}"/>
              </a:ext>
            </a:extLst>
          </p:cNvPr>
          <p:cNvSpPr txBox="1"/>
          <p:nvPr/>
        </p:nvSpPr>
        <p:spPr>
          <a:xfrm>
            <a:off x="3239490" y="4241024"/>
            <a:ext cx="439387" cy="369332"/>
          </a:xfrm>
          <a:prstGeom prst="rect">
            <a:avLst/>
          </a:prstGeom>
          <a:noFill/>
        </p:spPr>
        <p:txBody>
          <a:bodyPr wrap="square" rtlCol="0">
            <a:spAutoFit/>
          </a:bodyPr>
          <a:lstStyle/>
          <a:p>
            <a:r>
              <a:rPr lang="en-US" b="1" dirty="0">
                <a:solidFill>
                  <a:schemeClr val="bg1"/>
                </a:solidFill>
              </a:rPr>
              <a:t>e</a:t>
            </a:r>
          </a:p>
        </p:txBody>
      </p:sp>
      <p:sp>
        <p:nvSpPr>
          <p:cNvPr id="18" name="TextBox 17">
            <a:extLst>
              <a:ext uri="{FF2B5EF4-FFF2-40B4-BE49-F238E27FC236}">
                <a16:creationId xmlns:a16="http://schemas.microsoft.com/office/drawing/2014/main" id="{B4235363-9E58-8249-ADB8-D7AEF56EAE2F}"/>
              </a:ext>
            </a:extLst>
          </p:cNvPr>
          <p:cNvSpPr txBox="1"/>
          <p:nvPr/>
        </p:nvSpPr>
        <p:spPr>
          <a:xfrm>
            <a:off x="1029095" y="4241024"/>
            <a:ext cx="439387" cy="369332"/>
          </a:xfrm>
          <a:prstGeom prst="rect">
            <a:avLst/>
          </a:prstGeom>
          <a:noFill/>
        </p:spPr>
        <p:txBody>
          <a:bodyPr wrap="square" rtlCol="0">
            <a:spAutoFit/>
          </a:bodyPr>
          <a:lstStyle/>
          <a:p>
            <a:r>
              <a:rPr lang="en-US" b="1" dirty="0">
                <a:solidFill>
                  <a:schemeClr val="bg1"/>
                </a:solidFill>
              </a:rPr>
              <a:t>d</a:t>
            </a:r>
          </a:p>
        </p:txBody>
      </p:sp>
      <p:sp>
        <p:nvSpPr>
          <p:cNvPr id="19" name="TextBox 18">
            <a:extLst>
              <a:ext uri="{FF2B5EF4-FFF2-40B4-BE49-F238E27FC236}">
                <a16:creationId xmlns:a16="http://schemas.microsoft.com/office/drawing/2014/main" id="{6487D20A-0D59-5442-8397-4B64903E9C69}"/>
              </a:ext>
            </a:extLst>
          </p:cNvPr>
          <p:cNvSpPr txBox="1"/>
          <p:nvPr/>
        </p:nvSpPr>
        <p:spPr>
          <a:xfrm>
            <a:off x="5462551" y="1946118"/>
            <a:ext cx="439387" cy="369332"/>
          </a:xfrm>
          <a:prstGeom prst="rect">
            <a:avLst/>
          </a:prstGeom>
          <a:noFill/>
        </p:spPr>
        <p:txBody>
          <a:bodyPr wrap="square" rtlCol="0">
            <a:spAutoFit/>
          </a:bodyPr>
          <a:lstStyle/>
          <a:p>
            <a:r>
              <a:rPr lang="en-US" b="1" dirty="0">
                <a:solidFill>
                  <a:schemeClr val="bg1"/>
                </a:solidFill>
              </a:rPr>
              <a:t>c</a:t>
            </a:r>
          </a:p>
        </p:txBody>
      </p:sp>
      <p:sp>
        <p:nvSpPr>
          <p:cNvPr id="20" name="TextBox 19">
            <a:extLst>
              <a:ext uri="{FF2B5EF4-FFF2-40B4-BE49-F238E27FC236}">
                <a16:creationId xmlns:a16="http://schemas.microsoft.com/office/drawing/2014/main" id="{C6C8A3C9-33DB-AC4C-92FE-BC5FB521AAEC}"/>
              </a:ext>
            </a:extLst>
          </p:cNvPr>
          <p:cNvSpPr txBox="1"/>
          <p:nvPr/>
        </p:nvSpPr>
        <p:spPr>
          <a:xfrm>
            <a:off x="3239490" y="1946118"/>
            <a:ext cx="439387" cy="369332"/>
          </a:xfrm>
          <a:prstGeom prst="rect">
            <a:avLst/>
          </a:prstGeom>
          <a:noFill/>
        </p:spPr>
        <p:txBody>
          <a:bodyPr wrap="square" rtlCol="0">
            <a:spAutoFit/>
          </a:bodyPr>
          <a:lstStyle/>
          <a:p>
            <a:r>
              <a:rPr lang="en-US" b="1" dirty="0">
                <a:solidFill>
                  <a:schemeClr val="bg1"/>
                </a:solidFill>
              </a:rPr>
              <a:t>b</a:t>
            </a:r>
          </a:p>
        </p:txBody>
      </p:sp>
      <p:sp>
        <p:nvSpPr>
          <p:cNvPr id="21" name="TextBox 20">
            <a:extLst>
              <a:ext uri="{FF2B5EF4-FFF2-40B4-BE49-F238E27FC236}">
                <a16:creationId xmlns:a16="http://schemas.microsoft.com/office/drawing/2014/main" id="{47076B93-0BD9-E948-9E7B-4FB561F6BE04}"/>
              </a:ext>
            </a:extLst>
          </p:cNvPr>
          <p:cNvSpPr txBox="1"/>
          <p:nvPr/>
        </p:nvSpPr>
        <p:spPr>
          <a:xfrm>
            <a:off x="1028700" y="1946118"/>
            <a:ext cx="439387" cy="369332"/>
          </a:xfrm>
          <a:prstGeom prst="rect">
            <a:avLst/>
          </a:prstGeom>
          <a:noFill/>
        </p:spPr>
        <p:txBody>
          <a:bodyPr wrap="square" rtlCol="0">
            <a:spAutoFit/>
          </a:bodyPr>
          <a:lstStyle/>
          <a:p>
            <a:r>
              <a:rPr lang="en-US" b="1" dirty="0">
                <a:solidFill>
                  <a:schemeClr val="bg1"/>
                </a:solidFill>
              </a:rPr>
              <a:t>a</a:t>
            </a:r>
          </a:p>
        </p:txBody>
      </p:sp>
      <p:sp>
        <p:nvSpPr>
          <p:cNvPr id="22" name="TextBox 21">
            <a:extLst>
              <a:ext uri="{FF2B5EF4-FFF2-40B4-BE49-F238E27FC236}">
                <a16:creationId xmlns:a16="http://schemas.microsoft.com/office/drawing/2014/main" id="{8183E09B-B3ED-7C48-BBDF-28370B0727CB}"/>
              </a:ext>
            </a:extLst>
          </p:cNvPr>
          <p:cNvSpPr txBox="1"/>
          <p:nvPr/>
        </p:nvSpPr>
        <p:spPr>
          <a:xfrm>
            <a:off x="7766462" y="2012389"/>
            <a:ext cx="4168239" cy="3139321"/>
          </a:xfrm>
          <a:prstGeom prst="rect">
            <a:avLst/>
          </a:prstGeom>
          <a:noFill/>
        </p:spPr>
        <p:txBody>
          <a:bodyPr wrap="square" rtlCol="0">
            <a:spAutoFit/>
          </a:bodyPr>
          <a:lstStyle/>
          <a:p>
            <a:r>
              <a:rPr lang="en-US" b="1" dirty="0"/>
              <a:t>Figure 6: </a:t>
            </a:r>
            <a:r>
              <a:rPr lang="en-US" dirty="0"/>
              <a:t>Compressed sensing with a median filter on the nature image (16x16 blocks) with different number of pixels sampled</a:t>
            </a:r>
          </a:p>
          <a:p>
            <a:endParaRPr lang="en-US" dirty="0"/>
          </a:p>
          <a:p>
            <a:r>
              <a:rPr lang="en-US" b="1" dirty="0"/>
              <a:t>a: </a:t>
            </a:r>
            <a:r>
              <a:rPr lang="en-US" dirty="0"/>
              <a:t>original image</a:t>
            </a:r>
          </a:p>
          <a:p>
            <a:r>
              <a:rPr lang="en-US" b="1" dirty="0"/>
              <a:t>b: </a:t>
            </a:r>
            <a:r>
              <a:rPr lang="en-US" dirty="0"/>
              <a:t>10 pixels sampled</a:t>
            </a:r>
          </a:p>
          <a:p>
            <a:r>
              <a:rPr lang="en-US" b="1" dirty="0"/>
              <a:t>c: </a:t>
            </a:r>
            <a:r>
              <a:rPr lang="en-US" dirty="0"/>
              <a:t>30 pixels sampled</a:t>
            </a:r>
          </a:p>
          <a:p>
            <a:r>
              <a:rPr lang="en-US" b="1" dirty="0"/>
              <a:t>d: </a:t>
            </a:r>
            <a:r>
              <a:rPr lang="en-US" dirty="0"/>
              <a:t>50 pixels sampled</a:t>
            </a:r>
          </a:p>
          <a:p>
            <a:r>
              <a:rPr lang="en-US" b="1" dirty="0"/>
              <a:t>e: </a:t>
            </a:r>
            <a:r>
              <a:rPr lang="en-US" dirty="0"/>
              <a:t>100 pixels sampled</a:t>
            </a:r>
          </a:p>
          <a:p>
            <a:r>
              <a:rPr lang="en-US" b="1" dirty="0"/>
              <a:t>f: </a:t>
            </a:r>
            <a:r>
              <a:rPr lang="en-US" dirty="0"/>
              <a:t>150 pixels sampled</a:t>
            </a:r>
          </a:p>
        </p:txBody>
      </p:sp>
    </p:spTree>
    <p:extLst>
      <p:ext uri="{BB962C8B-B14F-4D97-AF65-F5344CB8AC3E}">
        <p14:creationId xmlns:p14="http://schemas.microsoft.com/office/powerpoint/2010/main" val="1231718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23CBD-7B68-D542-8017-FAB0EF6953C2}"/>
              </a:ext>
            </a:extLst>
          </p:cNvPr>
          <p:cNvSpPr>
            <a:spLocks noGrp="1"/>
          </p:cNvSpPr>
          <p:nvPr>
            <p:ph type="title"/>
          </p:nvPr>
        </p:nvSpPr>
        <p:spPr/>
        <p:txBody>
          <a:bodyPr/>
          <a:lstStyle/>
          <a:p>
            <a:r>
              <a:rPr lang="en-US" dirty="0"/>
              <a:t>Nature Results</a:t>
            </a:r>
          </a:p>
        </p:txBody>
      </p:sp>
      <p:sp>
        <p:nvSpPr>
          <p:cNvPr id="3" name="Content Placeholder 2">
            <a:extLst>
              <a:ext uri="{FF2B5EF4-FFF2-40B4-BE49-F238E27FC236}">
                <a16:creationId xmlns:a16="http://schemas.microsoft.com/office/drawing/2014/main" id="{89ABC7BD-071E-C249-92C2-C2724E5D2ED7}"/>
              </a:ext>
            </a:extLst>
          </p:cNvPr>
          <p:cNvSpPr>
            <a:spLocks noGrp="1"/>
          </p:cNvSpPr>
          <p:nvPr>
            <p:ph idx="1"/>
          </p:nvPr>
        </p:nvSpPr>
        <p:spPr>
          <a:xfrm>
            <a:off x="1028700" y="2161903"/>
            <a:ext cx="6178136" cy="3969342"/>
          </a:xfrm>
        </p:spPr>
        <p:txBody>
          <a:bodyPr/>
          <a:lstStyle/>
          <a:p>
            <a:r>
              <a:rPr lang="en-US" dirty="0"/>
              <a:t>Figure 7 is a plot of the mean squared error of compressed sensing of the nature model for different numbers of samples.</a:t>
            </a:r>
          </a:p>
          <a:p>
            <a:r>
              <a:rPr lang="en-US" b="1" dirty="0"/>
              <a:t>Number of Samples: </a:t>
            </a:r>
            <a:r>
              <a:rPr lang="en-US" dirty="0"/>
              <a:t>Based on the plot, as the number of samples increases, the mean squared error decreases.</a:t>
            </a:r>
          </a:p>
          <a:p>
            <a:r>
              <a:rPr lang="en-US" b="1" dirty="0"/>
              <a:t>Median Filtering:</a:t>
            </a:r>
            <a:r>
              <a:rPr lang="en-US" dirty="0"/>
              <a:t> At 30 samples, the quality of the image with a median filter is worse than without a median filter but prior to 30 samples, the image quality is significantly better with a median filter.</a:t>
            </a:r>
          </a:p>
        </p:txBody>
      </p:sp>
      <p:sp>
        <p:nvSpPr>
          <p:cNvPr id="9" name="TextBox 8">
            <a:extLst>
              <a:ext uri="{FF2B5EF4-FFF2-40B4-BE49-F238E27FC236}">
                <a16:creationId xmlns:a16="http://schemas.microsoft.com/office/drawing/2014/main" id="{627344B8-9B7B-D346-9788-BC0600998FD3}"/>
              </a:ext>
            </a:extLst>
          </p:cNvPr>
          <p:cNvSpPr txBox="1"/>
          <p:nvPr/>
        </p:nvSpPr>
        <p:spPr>
          <a:xfrm>
            <a:off x="7561525" y="5407596"/>
            <a:ext cx="4121239" cy="646331"/>
          </a:xfrm>
          <a:prstGeom prst="rect">
            <a:avLst/>
          </a:prstGeom>
          <a:noFill/>
        </p:spPr>
        <p:txBody>
          <a:bodyPr wrap="square" rtlCol="0">
            <a:spAutoFit/>
          </a:bodyPr>
          <a:lstStyle/>
          <a:p>
            <a:r>
              <a:rPr lang="en-US" b="1" dirty="0"/>
              <a:t>Figure 7:</a:t>
            </a:r>
            <a:r>
              <a:rPr lang="en-US" dirty="0"/>
              <a:t> The effect of number of samples on mean squared error</a:t>
            </a:r>
            <a:endParaRPr lang="en-US" b="1" dirty="0"/>
          </a:p>
        </p:txBody>
      </p:sp>
      <p:pic>
        <p:nvPicPr>
          <p:cNvPr id="5" name="Picture 4" descr="Chart, line chart&#10;&#10;Description automatically generated">
            <a:extLst>
              <a:ext uri="{FF2B5EF4-FFF2-40B4-BE49-F238E27FC236}">
                <a16:creationId xmlns:a16="http://schemas.microsoft.com/office/drawing/2014/main" id="{A722A6B6-7389-E842-80F2-AFF76B33FD00}"/>
              </a:ext>
            </a:extLst>
          </p:cNvPr>
          <p:cNvPicPr>
            <a:picLocks noChangeAspect="1"/>
          </p:cNvPicPr>
          <p:nvPr/>
        </p:nvPicPr>
        <p:blipFill>
          <a:blip r:embed="rId2"/>
          <a:stretch>
            <a:fillRect/>
          </a:stretch>
        </p:blipFill>
        <p:spPr>
          <a:xfrm>
            <a:off x="7308142" y="1936594"/>
            <a:ext cx="4628003" cy="3471002"/>
          </a:xfrm>
          <a:prstGeom prst="rect">
            <a:avLst/>
          </a:prstGeom>
        </p:spPr>
      </p:pic>
    </p:spTree>
    <p:extLst>
      <p:ext uri="{BB962C8B-B14F-4D97-AF65-F5344CB8AC3E}">
        <p14:creationId xmlns:p14="http://schemas.microsoft.com/office/powerpoint/2010/main" val="3638127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90822-8092-2F41-9039-6787A99AD54E}"/>
              </a:ext>
            </a:extLst>
          </p:cNvPr>
          <p:cNvSpPr>
            <a:spLocks noGrp="1"/>
          </p:cNvSpPr>
          <p:nvPr>
            <p:ph type="title"/>
          </p:nvPr>
        </p:nvSpPr>
        <p:spPr/>
        <p:txBody>
          <a:bodyPr/>
          <a:lstStyle/>
          <a:p>
            <a:r>
              <a:rPr lang="en-US" dirty="0"/>
              <a:t>Lasso Runtime under Normalization Conditions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D10D573-44CF-0C45-88D6-DEA2FFE0442E}"/>
                  </a:ext>
                </a:extLst>
              </p:cNvPr>
              <p:cNvSpPr>
                <a:spLocks noGrp="1"/>
              </p:cNvSpPr>
              <p:nvPr>
                <p:ph idx="1"/>
              </p:nvPr>
            </p:nvSpPr>
            <p:spPr>
              <a:xfrm>
                <a:off x="1028700" y="2161903"/>
                <a:ext cx="6642543" cy="3969342"/>
              </a:xfrm>
            </p:spPr>
            <p:txBody>
              <a:bodyPr>
                <a:normAutofit/>
              </a:bodyPr>
              <a:lstStyle/>
              <a:p>
                <a:r>
                  <a:rPr lang="en-US" dirty="0"/>
                  <a:t>When each image was normalized so that all pixel values existed between 0 and 1 instead of from 0 to 255, lasso regression ran significantly faster.</a:t>
                </a:r>
              </a:p>
              <a:p>
                <a:r>
                  <a:rPr lang="en-US" b="1" dirty="0"/>
                  <a:t>Implementation:</a:t>
                </a:r>
              </a:p>
              <a:p>
                <a:r>
                  <a:rPr lang="en-US" dirty="0"/>
                  <a:t>In addition to scaling the values of all pixels by 1/255, the range of lambda values needed to be decreased changed from</a:t>
                </a:r>
              </a:p>
              <a:p>
                <a:r>
                  <a:rPr lang="en-US" dirty="0"/>
                  <a:t>10</a:t>
                </a:r>
                <a:r>
                  <a:rPr lang="en-US" baseline="30000" dirty="0"/>
                  <a:t>-6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oMath>
                </a14:m>
                <a:r>
                  <a:rPr lang="en-US" dirty="0"/>
                  <a:t> 10</a:t>
                </a:r>
                <a:r>
                  <a:rPr lang="en-US" baseline="30000" dirty="0"/>
                  <a:t>6</a:t>
                </a:r>
                <a:r>
                  <a:rPr lang="en-US" dirty="0"/>
                  <a:t> to 10</a:t>
                </a:r>
                <a:r>
                  <a:rPr lang="en-US" baseline="30000" dirty="0"/>
                  <a:t>-11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m:t>
                    </m:r>
                  </m:oMath>
                </a14:m>
                <a:r>
                  <a:rPr lang="en-US" dirty="0"/>
                  <a:t> 10</a:t>
                </a:r>
                <a:r>
                  <a:rPr lang="en-US" baseline="30000" dirty="0"/>
                  <a:t>1</a:t>
                </a:r>
                <a:r>
                  <a:rPr lang="en-US" dirty="0"/>
                  <a:t> because all pixel values decreased by a factor of 10</a:t>
                </a:r>
                <a:r>
                  <a:rPr lang="en-US" baseline="30000" dirty="0"/>
                  <a:t>-5</a:t>
                </a:r>
                <a:r>
                  <a:rPr lang="en-US" dirty="0"/>
                  <a:t> once normalized.</a:t>
                </a:r>
              </a:p>
            </p:txBody>
          </p:sp>
        </mc:Choice>
        <mc:Fallback>
          <p:sp>
            <p:nvSpPr>
              <p:cNvPr id="3" name="Content Placeholder 2">
                <a:extLst>
                  <a:ext uri="{FF2B5EF4-FFF2-40B4-BE49-F238E27FC236}">
                    <a16:creationId xmlns:a16="http://schemas.microsoft.com/office/drawing/2014/main" id="{1D10D573-44CF-0C45-88D6-DEA2FFE0442E}"/>
                  </a:ext>
                </a:extLst>
              </p:cNvPr>
              <p:cNvSpPr>
                <a:spLocks noGrp="1" noRot="1" noChangeAspect="1" noMove="1" noResize="1" noEditPoints="1" noAdjustHandles="1" noChangeArrowheads="1" noChangeShapeType="1" noTextEdit="1"/>
              </p:cNvSpPr>
              <p:nvPr>
                <p:ph idx="1"/>
              </p:nvPr>
            </p:nvSpPr>
            <p:spPr>
              <a:xfrm>
                <a:off x="1028700" y="2161903"/>
                <a:ext cx="6642543" cy="3969342"/>
              </a:xfrm>
              <a:blipFill>
                <a:blip r:embed="rId2"/>
                <a:stretch>
                  <a:fillRect l="-1147" t="-639" r="-1721"/>
                </a:stretch>
              </a:blipFill>
            </p:spPr>
            <p:txBody>
              <a:bodyPr/>
              <a:lstStyle/>
              <a:p>
                <a:r>
                  <a:rPr lang="en-US">
                    <a:noFill/>
                  </a:rPr>
                  <a:t> </a:t>
                </a:r>
              </a:p>
            </p:txBody>
          </p:sp>
        </mc:Fallback>
      </mc:AlternateContent>
      <p:pic>
        <p:nvPicPr>
          <p:cNvPr id="5" name="Picture 4" descr="Chart, line chart&#10;&#10;Description automatically generated">
            <a:extLst>
              <a:ext uri="{FF2B5EF4-FFF2-40B4-BE49-F238E27FC236}">
                <a16:creationId xmlns:a16="http://schemas.microsoft.com/office/drawing/2014/main" id="{820D2365-0A56-E245-97D7-013D612F2148}"/>
              </a:ext>
            </a:extLst>
          </p:cNvPr>
          <p:cNvPicPr>
            <a:picLocks noChangeAspect="1"/>
          </p:cNvPicPr>
          <p:nvPr/>
        </p:nvPicPr>
        <p:blipFill>
          <a:blip r:embed="rId3"/>
          <a:stretch>
            <a:fillRect/>
          </a:stretch>
        </p:blipFill>
        <p:spPr>
          <a:xfrm>
            <a:off x="7671243" y="2161903"/>
            <a:ext cx="4356100" cy="3267075"/>
          </a:xfrm>
          <a:prstGeom prst="rect">
            <a:avLst/>
          </a:prstGeom>
        </p:spPr>
      </p:pic>
      <p:sp>
        <p:nvSpPr>
          <p:cNvPr id="6" name="TextBox 5">
            <a:extLst>
              <a:ext uri="{FF2B5EF4-FFF2-40B4-BE49-F238E27FC236}">
                <a16:creationId xmlns:a16="http://schemas.microsoft.com/office/drawing/2014/main" id="{3CF4D66A-9043-1D43-95F7-1CFDFD8E28E8}"/>
              </a:ext>
            </a:extLst>
          </p:cNvPr>
          <p:cNvSpPr txBox="1"/>
          <p:nvPr/>
        </p:nvSpPr>
        <p:spPr>
          <a:xfrm>
            <a:off x="7995684" y="5428978"/>
            <a:ext cx="3848986" cy="646331"/>
          </a:xfrm>
          <a:prstGeom prst="rect">
            <a:avLst/>
          </a:prstGeom>
          <a:noFill/>
        </p:spPr>
        <p:txBody>
          <a:bodyPr wrap="square" rtlCol="0">
            <a:spAutoFit/>
          </a:bodyPr>
          <a:lstStyle/>
          <a:p>
            <a:r>
              <a:rPr lang="en-US" b="1" dirty="0"/>
              <a:t>Figure 8: </a:t>
            </a:r>
            <a:r>
              <a:rPr lang="en-US" dirty="0"/>
              <a:t>The effect of normalization on runtime</a:t>
            </a:r>
            <a:endParaRPr lang="en-US" b="1" dirty="0"/>
          </a:p>
        </p:txBody>
      </p:sp>
    </p:spTree>
    <p:extLst>
      <p:ext uri="{BB962C8B-B14F-4D97-AF65-F5344CB8AC3E}">
        <p14:creationId xmlns:p14="http://schemas.microsoft.com/office/powerpoint/2010/main" val="3777469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11" name="Rectangle 10">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5" name="Straight Connector 11">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15" name="Rectangle 14">
            <a:extLst>
              <a:ext uri="{FF2B5EF4-FFF2-40B4-BE49-F238E27FC236}">
                <a16:creationId xmlns:a16="http://schemas.microsoft.com/office/drawing/2014/main" id="{4905C695-F54E-4EF8-8AEF-811D460E7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5CD2A3-2099-476E-9A85-55DC735FA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700" y="1028700"/>
            <a:ext cx="10134600" cy="48023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B1956D-E74A-8E49-B432-2F6873E075D1}"/>
              </a:ext>
            </a:extLst>
          </p:cNvPr>
          <p:cNvSpPr>
            <a:spLocks noGrp="1"/>
          </p:cNvSpPr>
          <p:nvPr>
            <p:ph type="title"/>
          </p:nvPr>
        </p:nvSpPr>
        <p:spPr>
          <a:xfrm>
            <a:off x="2408583" y="1503007"/>
            <a:ext cx="7374834" cy="1868049"/>
          </a:xfrm>
        </p:spPr>
        <p:txBody>
          <a:bodyPr vert="horz" lIns="91440" tIns="45720" rIns="91440" bIns="45720" rtlCol="0" anchor="b">
            <a:normAutofit/>
          </a:bodyPr>
          <a:lstStyle/>
          <a:p>
            <a:r>
              <a:rPr lang="en-US" sz="2800" kern="1200" cap="all" spc="390" baseline="0" dirty="0">
                <a:solidFill>
                  <a:schemeClr val="tx2"/>
                </a:solidFill>
                <a:latin typeface="+mj-lt"/>
                <a:ea typeface="+mj-ea"/>
                <a:cs typeface="+mj-cs"/>
              </a:rPr>
              <a:t>Discussion &amp; Conclusions</a:t>
            </a:r>
          </a:p>
        </p:txBody>
      </p:sp>
      <p:sp>
        <p:nvSpPr>
          <p:cNvPr id="3" name="Text Placeholder 2">
            <a:extLst>
              <a:ext uri="{FF2B5EF4-FFF2-40B4-BE49-F238E27FC236}">
                <a16:creationId xmlns:a16="http://schemas.microsoft.com/office/drawing/2014/main" id="{8D50DA9E-75FE-B646-80F6-61959E7607BA}"/>
              </a:ext>
            </a:extLst>
          </p:cNvPr>
          <p:cNvSpPr>
            <a:spLocks noGrp="1"/>
          </p:cNvSpPr>
          <p:nvPr>
            <p:ph type="body" idx="1"/>
          </p:nvPr>
        </p:nvSpPr>
        <p:spPr>
          <a:xfrm>
            <a:off x="2885661" y="4509051"/>
            <a:ext cx="6420678" cy="978654"/>
          </a:xfrm>
        </p:spPr>
        <p:txBody>
          <a:bodyPr vert="horz" lIns="91440" tIns="45720" rIns="91440" bIns="45720" rtlCol="0" anchor="t">
            <a:normAutofit/>
          </a:bodyPr>
          <a:lstStyle/>
          <a:p>
            <a:pPr>
              <a:lnSpc>
                <a:spcPct val="100000"/>
              </a:lnSpc>
            </a:pPr>
            <a:endParaRPr lang="en-US" dirty="0"/>
          </a:p>
        </p:txBody>
      </p:sp>
      <p:grpSp>
        <p:nvGrpSpPr>
          <p:cNvPr id="19" name="Group 18">
            <a:extLst>
              <a:ext uri="{FF2B5EF4-FFF2-40B4-BE49-F238E27FC236}">
                <a16:creationId xmlns:a16="http://schemas.microsoft.com/office/drawing/2014/main" id="{E92979E8-2E86-433E-A7E4-5F102E45A8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3887876"/>
            <a:ext cx="867485" cy="115439"/>
            <a:chOff x="8910933" y="1861308"/>
            <a:chExt cx="867485" cy="115439"/>
          </a:xfrm>
        </p:grpSpPr>
        <p:sp>
          <p:nvSpPr>
            <p:cNvPr id="20" name="Rectangle 19">
              <a:extLst>
                <a:ext uri="{FF2B5EF4-FFF2-40B4-BE49-F238E27FC236}">
                  <a16:creationId xmlns:a16="http://schemas.microsoft.com/office/drawing/2014/main" id="{CDDEF0D5-EF9F-43D4-BF40-27A3121E02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6" name="Straight Connector 20">
              <a:extLst>
                <a:ext uri="{FF2B5EF4-FFF2-40B4-BE49-F238E27FC236}">
                  <a16:creationId xmlns:a16="http://schemas.microsoft.com/office/drawing/2014/main" id="{71438B34-2B34-4614-B3B4-D099271503B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C691BDB-93D3-4721-903C-45DD9590F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70618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EA6DD-9E1B-1548-82D0-B98313EEB5A2}"/>
              </a:ext>
            </a:extLst>
          </p:cNvPr>
          <p:cNvSpPr>
            <a:spLocks noGrp="1"/>
          </p:cNvSpPr>
          <p:nvPr>
            <p:ph type="title"/>
          </p:nvPr>
        </p:nvSpPr>
        <p:spPr/>
        <p:txBody>
          <a:bodyPr/>
          <a:lstStyle/>
          <a:p>
            <a:r>
              <a:rPr lang="en-US" dirty="0"/>
              <a:t>Effect of Number of Sampled Pixels on MSE</a:t>
            </a:r>
          </a:p>
        </p:txBody>
      </p:sp>
      <p:sp>
        <p:nvSpPr>
          <p:cNvPr id="3" name="Content Placeholder 2">
            <a:extLst>
              <a:ext uri="{FF2B5EF4-FFF2-40B4-BE49-F238E27FC236}">
                <a16:creationId xmlns:a16="http://schemas.microsoft.com/office/drawing/2014/main" id="{9C694599-1EFE-C445-99A8-7C182542C794}"/>
              </a:ext>
            </a:extLst>
          </p:cNvPr>
          <p:cNvSpPr>
            <a:spLocks noGrp="1"/>
          </p:cNvSpPr>
          <p:nvPr>
            <p:ph idx="1"/>
          </p:nvPr>
        </p:nvSpPr>
        <p:spPr/>
        <p:txBody>
          <a:bodyPr>
            <a:normAutofit/>
          </a:bodyPr>
          <a:lstStyle/>
          <a:p>
            <a:pPr marL="342900" indent="-342900">
              <a:buFont typeface="Arial" panose="020B0604020202020204" pitchFamily="34" charset="0"/>
              <a:buChar char="•"/>
            </a:pPr>
            <a:r>
              <a:rPr lang="en-US" dirty="0"/>
              <a:t>For both the small image and the large image, as the number of pixels sampled increases, MSE improves</a:t>
            </a:r>
          </a:p>
          <a:p>
            <a:r>
              <a:rPr lang="en-US" b="1" dirty="0"/>
              <a:t>Explanations:</a:t>
            </a:r>
          </a:p>
          <a:p>
            <a:pPr marL="342900" indent="-342900">
              <a:buFont typeface="Arial" panose="020B0604020202020204" pitchFamily="34" charset="0"/>
              <a:buChar char="•"/>
            </a:pPr>
            <a:r>
              <a:rPr lang="en-US" dirty="0"/>
              <a:t>There are more original pixels (i.e. pixels with 0 error) averaged with the rest of the data, decreasing MSE.</a:t>
            </a:r>
          </a:p>
          <a:p>
            <a:pPr marL="342900" indent="-342900">
              <a:buFont typeface="Arial" panose="020B0604020202020204" pitchFamily="34" charset="0"/>
              <a:buChar char="•"/>
            </a:pPr>
            <a:r>
              <a:rPr lang="en-US" dirty="0"/>
              <a:t>Having a stronger prior knowledge of the image as a result of more samples can result in a higher fidelity estimate, decreasing MSE.</a:t>
            </a:r>
          </a:p>
          <a:p>
            <a:endParaRPr lang="en-US" dirty="0"/>
          </a:p>
          <a:p>
            <a:pPr marL="617220" lvl="1" indent="-342900"/>
            <a:endParaRPr lang="en-US" dirty="0"/>
          </a:p>
        </p:txBody>
      </p:sp>
    </p:spTree>
    <p:extLst>
      <p:ext uri="{BB962C8B-B14F-4D97-AF65-F5344CB8AC3E}">
        <p14:creationId xmlns:p14="http://schemas.microsoft.com/office/powerpoint/2010/main" val="1385454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ADA8F-69D4-7A41-9886-6F9786CCC68C}"/>
              </a:ext>
            </a:extLst>
          </p:cNvPr>
          <p:cNvSpPr>
            <a:spLocks noGrp="1"/>
          </p:cNvSpPr>
          <p:nvPr>
            <p:ph type="title"/>
          </p:nvPr>
        </p:nvSpPr>
        <p:spPr/>
        <p:txBody>
          <a:bodyPr/>
          <a:lstStyle/>
          <a:p>
            <a:r>
              <a:rPr lang="en-US" dirty="0"/>
              <a:t>Effect of Median Filtering on MSE</a:t>
            </a:r>
          </a:p>
        </p:txBody>
      </p:sp>
      <p:sp>
        <p:nvSpPr>
          <p:cNvPr id="3" name="Content Placeholder 2">
            <a:extLst>
              <a:ext uri="{FF2B5EF4-FFF2-40B4-BE49-F238E27FC236}">
                <a16:creationId xmlns:a16="http://schemas.microsoft.com/office/drawing/2014/main" id="{CBD1A286-6D94-9045-87B7-5081CF6D847D}"/>
              </a:ext>
            </a:extLst>
          </p:cNvPr>
          <p:cNvSpPr>
            <a:spLocks noGrp="1"/>
          </p:cNvSpPr>
          <p:nvPr>
            <p:ph idx="1"/>
          </p:nvPr>
        </p:nvSpPr>
        <p:spPr/>
        <p:txBody>
          <a:bodyPr/>
          <a:lstStyle/>
          <a:p>
            <a:pPr marL="342900" indent="-342900">
              <a:buFont typeface="Arial" panose="020B0604020202020204" pitchFamily="34" charset="0"/>
              <a:buChar char="•"/>
            </a:pPr>
            <a:r>
              <a:rPr lang="en-US" dirty="0"/>
              <a:t>Lower sampling rates have smaller MSE values with a median filter, but higher sampling rates have a smaller MSE without a median filter.</a:t>
            </a:r>
          </a:p>
          <a:p>
            <a:pPr marL="342900" indent="-342900">
              <a:buFont typeface="Arial" panose="020B0604020202020204" pitchFamily="34" charset="0"/>
              <a:buChar char="•"/>
            </a:pPr>
            <a:r>
              <a:rPr lang="en-US" dirty="0"/>
              <a:t>Median Filtering improves MSE for</a:t>
            </a:r>
          </a:p>
          <a:p>
            <a:pPr marL="617220" lvl="1" indent="-342900"/>
            <a:r>
              <a:rPr lang="en-US" b="1" dirty="0"/>
              <a:t>Fishing Boat</a:t>
            </a:r>
            <a:r>
              <a:rPr lang="en-US" dirty="0"/>
              <a:t> with ~20 or fewer samples</a:t>
            </a:r>
            <a:endParaRPr lang="en-US" b="1" dirty="0"/>
          </a:p>
          <a:p>
            <a:pPr marL="617220" lvl="1" indent="-342900"/>
            <a:r>
              <a:rPr lang="en-US" b="1" dirty="0"/>
              <a:t>Nature </a:t>
            </a:r>
            <a:r>
              <a:rPr lang="en-US" dirty="0"/>
              <a:t>with ~30 or fewer samples</a:t>
            </a:r>
            <a:endParaRPr lang="en-US" b="1" dirty="0"/>
          </a:p>
          <a:p>
            <a:pPr marL="342900" indent="-342900"/>
            <a:r>
              <a:rPr lang="en-US" b="1" dirty="0"/>
              <a:t>Explanations</a:t>
            </a:r>
          </a:p>
          <a:p>
            <a:r>
              <a:rPr lang="en-US" dirty="0"/>
              <a:t>The median filtering is still a smoothing filter that adds blur. At a high sampling rate, the recovered image is very sharp and median filtering it adds unnecessary blur.</a:t>
            </a:r>
          </a:p>
          <a:p>
            <a:endParaRPr lang="en-US" dirty="0"/>
          </a:p>
        </p:txBody>
      </p:sp>
    </p:spTree>
    <p:extLst>
      <p:ext uri="{BB962C8B-B14F-4D97-AF65-F5344CB8AC3E}">
        <p14:creationId xmlns:p14="http://schemas.microsoft.com/office/powerpoint/2010/main" val="1083082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1ECD5-3BD2-5948-A266-8695EBD04806}"/>
              </a:ext>
            </a:extLst>
          </p:cNvPr>
          <p:cNvSpPr>
            <a:spLocks noGrp="1"/>
          </p:cNvSpPr>
          <p:nvPr>
            <p:ph type="title"/>
          </p:nvPr>
        </p:nvSpPr>
        <p:spPr/>
        <p:txBody>
          <a:bodyPr/>
          <a:lstStyle/>
          <a:p>
            <a:r>
              <a:rPr lang="en-US" dirty="0"/>
              <a:t>Effect of Block Size on MSE</a:t>
            </a:r>
          </a:p>
        </p:txBody>
      </p:sp>
      <p:sp>
        <p:nvSpPr>
          <p:cNvPr id="3" name="Content Placeholder 2">
            <a:extLst>
              <a:ext uri="{FF2B5EF4-FFF2-40B4-BE49-F238E27FC236}">
                <a16:creationId xmlns:a16="http://schemas.microsoft.com/office/drawing/2014/main" id="{9FFDC20C-3E62-CE47-B240-32004C9EE57E}"/>
              </a:ext>
            </a:extLst>
          </p:cNvPr>
          <p:cNvSpPr>
            <a:spLocks noGrp="1"/>
          </p:cNvSpPr>
          <p:nvPr>
            <p:ph idx="1"/>
          </p:nvPr>
        </p:nvSpPr>
        <p:spPr/>
        <p:txBody>
          <a:bodyPr>
            <a:normAutofit/>
          </a:bodyPr>
          <a:lstStyle/>
          <a:p>
            <a:r>
              <a:rPr lang="en-US" b="1" dirty="0"/>
              <a:t>Block size has a significant effect on MSE at lower sampling rates</a:t>
            </a:r>
          </a:p>
          <a:p>
            <a:r>
              <a:rPr lang="en-US" dirty="0"/>
              <a:t>For example, if approximately 10% of the pixels were sampled from an 8x8 block versus a 16x16 block, the MSE for the 8x8 block would be higher (MSE = ~1200) compared to the 16x16 block (MSE = ~600) because the 16x16 block has a stronger prior as a result of more data.</a:t>
            </a:r>
          </a:p>
          <a:p>
            <a:r>
              <a:rPr lang="en-US" b="1" dirty="0"/>
              <a:t>As sampling increases, the block size does not matter</a:t>
            </a:r>
          </a:p>
          <a:p>
            <a:r>
              <a:rPr lang="en-US" dirty="0"/>
              <a:t>When comparing the MSE for fishing boat and nature, if ~50% of the pixels are sampled in each block (32 for fishing boat and 128 for nature), the MSE is around 200, regardless of block size.</a:t>
            </a:r>
          </a:p>
        </p:txBody>
      </p:sp>
    </p:spTree>
    <p:extLst>
      <p:ext uri="{BB962C8B-B14F-4D97-AF65-F5344CB8AC3E}">
        <p14:creationId xmlns:p14="http://schemas.microsoft.com/office/powerpoint/2010/main" val="3510885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CAF38-A350-D84B-B4B5-90EEA68810B4}"/>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7D4173D6-06BD-024F-8FAF-7BC7A2B441B3}"/>
              </a:ext>
            </a:extLst>
          </p:cNvPr>
          <p:cNvSpPr>
            <a:spLocks noGrp="1"/>
          </p:cNvSpPr>
          <p:nvPr>
            <p:ph idx="1"/>
          </p:nvPr>
        </p:nvSpPr>
        <p:spPr/>
        <p:txBody>
          <a:bodyPr/>
          <a:lstStyle/>
          <a:p>
            <a:pPr marL="342900" indent="-342900">
              <a:buFont typeface="Arial" panose="020B0604020202020204" pitchFamily="34" charset="0"/>
              <a:buChar char="•"/>
            </a:pPr>
            <a:r>
              <a:rPr lang="en-US" dirty="0"/>
              <a:t>Time</a:t>
            </a:r>
          </a:p>
          <a:p>
            <a:pPr marL="617220" lvl="1" indent="-342900"/>
            <a:r>
              <a:rPr lang="en-US" dirty="0"/>
              <a:t>Cross-validation takes a very long time to run on the magnitude of hours.</a:t>
            </a:r>
          </a:p>
          <a:p>
            <a:pPr marL="617220" lvl="1" indent="-342900"/>
            <a:r>
              <a:rPr lang="en-US" dirty="0"/>
              <a:t>Recovering even a small batch of images through this method may take days.</a:t>
            </a:r>
          </a:p>
          <a:p>
            <a:pPr marL="617220" lvl="1" indent="-342900"/>
            <a:r>
              <a:rPr lang="en-US" dirty="0"/>
              <a:t>It is not practical for a system with limited computing power.</a:t>
            </a:r>
          </a:p>
          <a:p>
            <a:pPr marL="617220" lvl="1" indent="-342900"/>
            <a:r>
              <a:rPr lang="en-US" dirty="0"/>
              <a:t>Although normalization improves efficiency, it still takes a very long time.</a:t>
            </a:r>
          </a:p>
          <a:p>
            <a:pPr marL="342900" indent="-342900">
              <a:buFont typeface="Arial" panose="020B0604020202020204" pitchFamily="34" charset="0"/>
              <a:buChar char="•"/>
            </a:pPr>
            <a:r>
              <a:rPr lang="en-US" dirty="0"/>
              <a:t>Piecewise Constant Images</a:t>
            </a:r>
          </a:p>
          <a:p>
            <a:pPr marL="617220" lvl="1" indent="-342900"/>
            <a:r>
              <a:rPr lang="en-US" dirty="0"/>
              <a:t>Images recovered through this method appear very blocky (see Figures 5 and 6) because the of the L</a:t>
            </a:r>
            <a:r>
              <a:rPr lang="en-US" baseline="-25000" dirty="0"/>
              <a:t>1</a:t>
            </a:r>
            <a:r>
              <a:rPr lang="en-US" dirty="0"/>
              <a:t> norm</a:t>
            </a:r>
          </a:p>
        </p:txBody>
      </p:sp>
    </p:spTree>
    <p:extLst>
      <p:ext uri="{BB962C8B-B14F-4D97-AF65-F5344CB8AC3E}">
        <p14:creationId xmlns:p14="http://schemas.microsoft.com/office/powerpoint/2010/main" val="32466137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11" name="Rectangle 10">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12" name="Straight Connector 11">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15" name="Rectangle 14">
            <a:extLst>
              <a:ext uri="{FF2B5EF4-FFF2-40B4-BE49-F238E27FC236}">
                <a16:creationId xmlns:a16="http://schemas.microsoft.com/office/drawing/2014/main" id="{4905C695-F54E-4EF8-8AEF-811D460E7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5CD2A3-2099-476E-9A85-55DC735FA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700" y="1028700"/>
            <a:ext cx="10134600" cy="48023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448D7B-F5C4-6F48-972B-C1263615FCA6}"/>
              </a:ext>
            </a:extLst>
          </p:cNvPr>
          <p:cNvSpPr>
            <a:spLocks noGrp="1"/>
          </p:cNvSpPr>
          <p:nvPr>
            <p:ph type="title"/>
          </p:nvPr>
        </p:nvSpPr>
        <p:spPr>
          <a:xfrm>
            <a:off x="2408583" y="1503007"/>
            <a:ext cx="7374834" cy="1868049"/>
          </a:xfrm>
        </p:spPr>
        <p:txBody>
          <a:bodyPr vert="horz" lIns="91440" tIns="45720" rIns="91440" bIns="45720" rtlCol="0" anchor="b">
            <a:normAutofit/>
          </a:bodyPr>
          <a:lstStyle/>
          <a:p>
            <a:r>
              <a:rPr lang="en-US" sz="2800" kern="1200" cap="all" spc="390" baseline="0" dirty="0">
                <a:solidFill>
                  <a:schemeClr val="tx2"/>
                </a:solidFill>
                <a:latin typeface="+mj-lt"/>
                <a:ea typeface="+mj-ea"/>
                <a:cs typeface="+mj-cs"/>
              </a:rPr>
              <a:t>References</a:t>
            </a:r>
          </a:p>
        </p:txBody>
      </p:sp>
      <p:sp>
        <p:nvSpPr>
          <p:cNvPr id="3" name="Text Placeholder 2">
            <a:extLst>
              <a:ext uri="{FF2B5EF4-FFF2-40B4-BE49-F238E27FC236}">
                <a16:creationId xmlns:a16="http://schemas.microsoft.com/office/drawing/2014/main" id="{804C3776-78DF-DD4C-95D9-12093405BB13}"/>
              </a:ext>
            </a:extLst>
          </p:cNvPr>
          <p:cNvSpPr>
            <a:spLocks noGrp="1"/>
          </p:cNvSpPr>
          <p:nvPr>
            <p:ph type="body" idx="1"/>
          </p:nvPr>
        </p:nvSpPr>
        <p:spPr>
          <a:xfrm>
            <a:off x="2885661" y="4509051"/>
            <a:ext cx="6420678" cy="978654"/>
          </a:xfrm>
        </p:spPr>
        <p:txBody>
          <a:bodyPr vert="horz" lIns="91440" tIns="45720" rIns="91440" bIns="45720" rtlCol="0" anchor="t">
            <a:normAutofit/>
          </a:bodyPr>
          <a:lstStyle/>
          <a:p>
            <a:pPr>
              <a:lnSpc>
                <a:spcPct val="100000"/>
              </a:lnSpc>
            </a:pPr>
            <a:endParaRPr lang="en-US"/>
          </a:p>
        </p:txBody>
      </p:sp>
      <p:grpSp>
        <p:nvGrpSpPr>
          <p:cNvPr id="19" name="Group 18">
            <a:extLst>
              <a:ext uri="{FF2B5EF4-FFF2-40B4-BE49-F238E27FC236}">
                <a16:creationId xmlns:a16="http://schemas.microsoft.com/office/drawing/2014/main" id="{E92979E8-2E86-433E-A7E4-5F102E45A8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3887876"/>
            <a:ext cx="867485" cy="115439"/>
            <a:chOff x="8910933" y="1861308"/>
            <a:chExt cx="867485" cy="115439"/>
          </a:xfrm>
        </p:grpSpPr>
        <p:sp>
          <p:nvSpPr>
            <p:cNvPr id="20" name="Rectangle 19">
              <a:extLst>
                <a:ext uri="{FF2B5EF4-FFF2-40B4-BE49-F238E27FC236}">
                  <a16:creationId xmlns:a16="http://schemas.microsoft.com/office/drawing/2014/main" id="{CDDEF0D5-EF9F-43D4-BF40-27A3121E02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1" name="Straight Connector 20">
              <a:extLst>
                <a:ext uri="{FF2B5EF4-FFF2-40B4-BE49-F238E27FC236}">
                  <a16:creationId xmlns:a16="http://schemas.microsoft.com/office/drawing/2014/main" id="{71438B34-2B34-4614-B3B4-D099271503B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C691BDB-93D3-4721-903C-45DD9590F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02040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DC6E8-4404-CD45-AD08-83997F1E215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FBF4631-6A79-7F42-8B35-FD790B4CA051}"/>
              </a:ext>
            </a:extLst>
          </p:cNvPr>
          <p:cNvSpPr>
            <a:spLocks noGrp="1"/>
          </p:cNvSpPr>
          <p:nvPr>
            <p:ph idx="1"/>
          </p:nvPr>
        </p:nvSpPr>
        <p:spPr/>
        <p:txBody>
          <a:bodyPr/>
          <a:lstStyle/>
          <a:p>
            <a:r>
              <a:rPr lang="en-US" baseline="30000" dirty="0"/>
              <a:t>1. </a:t>
            </a:r>
            <a:r>
              <a:rPr lang="en-US" dirty="0"/>
              <a:t>D. L. </a:t>
            </a:r>
            <a:r>
              <a:rPr lang="en-US" dirty="0" err="1"/>
              <a:t>Donoho</a:t>
            </a:r>
            <a:r>
              <a:rPr lang="en-US" dirty="0"/>
              <a:t>, "Compressed sensing," in IEEE Transactions on Information Theory, vol. 52, no. 4, pp. 1289-1306, April 2006, </a:t>
            </a:r>
            <a:r>
              <a:rPr lang="en-US" dirty="0" err="1"/>
              <a:t>doi</a:t>
            </a:r>
            <a:r>
              <a:rPr lang="en-US" dirty="0"/>
              <a:t>: 10.1109/TIT.2006.871582.</a:t>
            </a:r>
          </a:p>
          <a:p>
            <a:r>
              <a:rPr lang="en-US" baseline="30000" dirty="0"/>
              <a:t>2. </a:t>
            </a:r>
            <a:r>
              <a:rPr lang="en-US" dirty="0" err="1"/>
              <a:t>Tibshirani</a:t>
            </a:r>
            <a:r>
              <a:rPr lang="en-US" dirty="0"/>
              <a:t>, R. “Regression Shrinkage and Selection via the Lasso.” </a:t>
            </a:r>
            <a:r>
              <a:rPr lang="en-US" i="1" dirty="0"/>
              <a:t>Journal of the Royal Statistical Society.</a:t>
            </a:r>
            <a:r>
              <a:rPr lang="en-US" dirty="0"/>
              <a:t> Series B, Vol. 58, No. 1, 1996, pp. 267–288.</a:t>
            </a:r>
          </a:p>
          <a:p>
            <a:r>
              <a:rPr lang="en-US" baseline="30000" dirty="0"/>
              <a:t>3.</a:t>
            </a:r>
            <a:r>
              <a:rPr lang="en-US" dirty="0"/>
              <a:t> “lasso,” </a:t>
            </a:r>
            <a:r>
              <a:rPr lang="en-US" i="1" dirty="0"/>
              <a:t>Lasso or elastic net regularization for linear models - MATLAB</a:t>
            </a:r>
            <a:r>
              <a:rPr lang="en-US" dirty="0"/>
              <a:t>, 2021. [Online]. Available: https://</a:t>
            </a:r>
            <a:r>
              <a:rPr lang="en-US" dirty="0" err="1"/>
              <a:t>www.mathworks.com</a:t>
            </a:r>
            <a:r>
              <a:rPr lang="en-US" dirty="0"/>
              <a:t>/help/stats/</a:t>
            </a:r>
            <a:r>
              <a:rPr lang="en-US" dirty="0" err="1"/>
              <a:t>lasso.html</a:t>
            </a:r>
            <a:r>
              <a:rPr lang="en-US" dirty="0"/>
              <a:t>. [Accessed: 26-Feb-2022]. </a:t>
            </a:r>
          </a:p>
          <a:p>
            <a:r>
              <a:rPr lang="en-US" baseline="30000" dirty="0"/>
              <a:t>4. </a:t>
            </a:r>
            <a:r>
              <a:rPr lang="en-US" dirty="0"/>
              <a:t>“medfilt2,” </a:t>
            </a:r>
            <a:r>
              <a:rPr lang="en-US" i="1" dirty="0"/>
              <a:t>2-D median filtering - MATLAB</a:t>
            </a:r>
            <a:r>
              <a:rPr lang="en-US" dirty="0"/>
              <a:t>. [Online]. Available: https://</a:t>
            </a:r>
            <a:r>
              <a:rPr lang="en-US" dirty="0" err="1"/>
              <a:t>www.mathworks.com</a:t>
            </a:r>
            <a:r>
              <a:rPr lang="en-US" dirty="0"/>
              <a:t>/help/images/ref/medfilt2.html#References. [Accessed: 02-Mar-2022]. </a:t>
            </a:r>
          </a:p>
          <a:p>
            <a:r>
              <a:rPr lang="en-US" dirty="0"/>
              <a:t> </a:t>
            </a:r>
          </a:p>
        </p:txBody>
      </p:sp>
    </p:spTree>
    <p:extLst>
      <p:ext uri="{BB962C8B-B14F-4D97-AF65-F5344CB8AC3E}">
        <p14:creationId xmlns:p14="http://schemas.microsoft.com/office/powerpoint/2010/main" val="2416812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B22176A-41DB-4D9A-9B6F-F2296F1ED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9A636D-9CEC-4A76-A113-104B10543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A53EEF0-2806-4C52-A779-F5B786040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BD783-7E9C-0B4B-8194-4737DE7F3C5C}"/>
              </a:ext>
            </a:extLst>
          </p:cNvPr>
          <p:cNvSpPr>
            <a:spLocks noGrp="1"/>
          </p:cNvSpPr>
          <p:nvPr>
            <p:ph type="title"/>
          </p:nvPr>
        </p:nvSpPr>
        <p:spPr>
          <a:xfrm>
            <a:off x="1906656" y="1359628"/>
            <a:ext cx="8378688" cy="1160052"/>
          </a:xfrm>
        </p:spPr>
        <p:txBody>
          <a:bodyPr anchor="b">
            <a:normAutofit/>
          </a:bodyPr>
          <a:lstStyle/>
          <a:p>
            <a:pPr algn="ctr"/>
            <a:r>
              <a:rPr lang="en-US" dirty="0"/>
              <a:t>Collaborations</a:t>
            </a:r>
            <a:endParaRPr lang="en-US"/>
          </a:p>
        </p:txBody>
      </p:sp>
      <p:sp>
        <p:nvSpPr>
          <p:cNvPr id="3" name="Content Placeholder 2">
            <a:extLst>
              <a:ext uri="{FF2B5EF4-FFF2-40B4-BE49-F238E27FC236}">
                <a16:creationId xmlns:a16="http://schemas.microsoft.com/office/drawing/2014/main" id="{C7EE40C6-8DE9-E446-BC8C-E7ADB3651127}"/>
              </a:ext>
            </a:extLst>
          </p:cNvPr>
          <p:cNvSpPr>
            <a:spLocks noGrp="1"/>
          </p:cNvSpPr>
          <p:nvPr>
            <p:ph idx="1"/>
          </p:nvPr>
        </p:nvSpPr>
        <p:spPr>
          <a:xfrm>
            <a:off x="2985078" y="2641600"/>
            <a:ext cx="6221845" cy="3492499"/>
          </a:xfrm>
        </p:spPr>
        <p:txBody>
          <a:bodyPr anchor="ctr">
            <a:normAutofit/>
          </a:bodyPr>
          <a:lstStyle/>
          <a:p>
            <a:pPr algn="ctr"/>
            <a:r>
              <a:rPr lang="en-US" b="1" dirty="0"/>
              <a:t>Jayesh Gupta &amp; Erin Liu: </a:t>
            </a:r>
            <a:r>
              <a:rPr lang="en-US" dirty="0"/>
              <a:t>helped to debug my code when I was getting an error while trying to display my image, chatted with to understand why image was appearing darker and gamma intercept at DC was lower than expected, conceptually discussed the mathematics behind the project and best practices in running efficient code, compared MSEs and image quality at the end of the project</a:t>
            </a:r>
          </a:p>
          <a:p>
            <a:pPr algn="ctr"/>
            <a:r>
              <a:rPr lang="en-US" b="1" dirty="0"/>
              <a:t>Thank you!</a:t>
            </a:r>
          </a:p>
        </p:txBody>
      </p:sp>
      <p:grpSp>
        <p:nvGrpSpPr>
          <p:cNvPr id="14" name="Group 13">
            <a:extLst>
              <a:ext uri="{FF2B5EF4-FFF2-40B4-BE49-F238E27FC236}">
                <a16:creationId xmlns:a16="http://schemas.microsoft.com/office/drawing/2014/main" id="{1148C992-36DE-4449-B92D-49AE04B5D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1016086"/>
            <a:ext cx="867485" cy="115439"/>
            <a:chOff x="8910933" y="1861308"/>
            <a:chExt cx="867485" cy="115439"/>
          </a:xfrm>
        </p:grpSpPr>
        <p:sp>
          <p:nvSpPr>
            <p:cNvPr id="15" name="Rectangle 14">
              <a:extLst>
                <a:ext uri="{FF2B5EF4-FFF2-40B4-BE49-F238E27FC236}">
                  <a16:creationId xmlns:a16="http://schemas.microsoft.com/office/drawing/2014/main" id="{D765B2C1-DF41-437F-9F2D-C33E46FA2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B6AA37ED-ED19-4857-9B2C-777E8F707C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45F6E87-86FB-440C-9EB4-A48D11C72C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86792510"/>
      </p:ext>
    </p:extLst>
  </p:cSld>
  <p:clrMapOvr>
    <a:masterClrMapping/>
  </p:clrMapOvr>
</p:sld>
</file>

<file path=ppt/theme/theme1.xml><?xml version="1.0" encoding="utf-8"?>
<a:theme xmlns:a="http://schemas.openxmlformats.org/drawingml/2006/main" name="AdornVTI">
  <a:themeElements>
    <a:clrScheme name="GC1">
      <a:dk1>
        <a:sysClr val="windowText" lastClr="000000"/>
      </a:dk1>
      <a:lt1>
        <a:sysClr val="window" lastClr="FFFFFF"/>
      </a:lt1>
      <a:dk2>
        <a:srgbClr val="2C2830"/>
      </a:dk2>
      <a:lt2>
        <a:srgbClr val="E0DCE1"/>
      </a:lt2>
      <a:accent1>
        <a:srgbClr val="908193"/>
      </a:accent1>
      <a:accent2>
        <a:srgbClr val="A08889"/>
      </a:accent2>
      <a:accent3>
        <a:srgbClr val="B48C7E"/>
      </a:accent3>
      <a:accent4>
        <a:srgbClr val="809C9B"/>
      </a:accent4>
      <a:accent5>
        <a:srgbClr val="899F91"/>
      </a:accent5>
      <a:accent6>
        <a:srgbClr val="728274"/>
      </a:accent6>
      <a:hlink>
        <a:srgbClr val="837585"/>
      </a:hlink>
      <a:folHlink>
        <a:srgbClr val="677E83"/>
      </a:folHlink>
    </a:clrScheme>
    <a:fontScheme name="Bembo">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ornVTI" id="{497E3FA9-5A27-4D12-9D04-917BEF3D1303}" vid="{34192A01-61CA-4566-9818-841C607496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3196</TotalTime>
  <Words>2447</Words>
  <Application>Microsoft Macintosh PowerPoint</Application>
  <PresentationFormat>Widescreen</PresentationFormat>
  <Paragraphs>172</Paragraphs>
  <Slides>29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Bembo</vt:lpstr>
      <vt:lpstr>Calibri</vt:lpstr>
      <vt:lpstr>Cambria Math</vt:lpstr>
      <vt:lpstr>AdornVTI</vt:lpstr>
      <vt:lpstr>ECE 580 Mini Project 1: Compressed Sensing Image Recovery</vt:lpstr>
      <vt:lpstr>Background</vt:lpstr>
      <vt:lpstr>Compressed Sensing – Project Overview</vt:lpstr>
      <vt:lpstr>Compressed Sensing - Goals</vt:lpstr>
      <vt:lpstr>Key Results</vt:lpstr>
      <vt:lpstr>Mathematical Formulation</vt:lpstr>
      <vt:lpstr>Representation of Signal with DCT Basis</vt:lpstr>
      <vt:lpstr>Generating an Undetermined System by Sampling and  How to Recover It</vt:lpstr>
      <vt:lpstr>Sparsity Constraint and Lasso Regularization</vt:lpstr>
      <vt:lpstr>Cross-Validation to Find Lambda Parameters</vt:lpstr>
      <vt:lpstr>Median Filtering</vt:lpstr>
      <vt:lpstr>Median over Gaussian?</vt:lpstr>
      <vt:lpstr>Median over Gaussian? (cont.)</vt:lpstr>
      <vt:lpstr>Experimental Results</vt:lpstr>
      <vt:lpstr>Fishing Boat (Small Test Image) – without Median Filter</vt:lpstr>
      <vt:lpstr>Fishing Boat (Small Test Image) – with Median Filter</vt:lpstr>
      <vt:lpstr>Fishing Boat Results</vt:lpstr>
      <vt:lpstr>Nature (Large Test Image) – without Median Filter</vt:lpstr>
      <vt:lpstr>Nature (Large Test Image) – with Median Filter</vt:lpstr>
      <vt:lpstr>Nature Results</vt:lpstr>
      <vt:lpstr>Lasso Runtime under Normalization Conditions</vt:lpstr>
      <vt:lpstr>Discussion &amp; Conclusions</vt:lpstr>
      <vt:lpstr>Effect of Number of Sampled Pixels on MSE</vt:lpstr>
      <vt:lpstr>Effect of Median Filtering on MSE</vt:lpstr>
      <vt:lpstr>Effect of Block Size on MSE</vt:lpstr>
      <vt:lpstr>Limitations</vt:lpstr>
      <vt:lpstr>References</vt:lpstr>
      <vt:lpstr>References</vt:lpstr>
      <vt:lpstr>Collaborations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 580 Mini Project 1: Compressed Sensing Image Recovery</dc:title>
  <dc:creator>Sanika Gupte</dc:creator>
  <cp:lastModifiedBy>Sanika Gupte</cp:lastModifiedBy>
  <cp:revision>5</cp:revision>
  <dcterms:created xsi:type="dcterms:W3CDTF">2022-02-25T20:46:28Z</dcterms:created>
  <dcterms:modified xsi:type="dcterms:W3CDTF">2022-03-03T05:04:51Z</dcterms:modified>
</cp:coreProperties>
</file>